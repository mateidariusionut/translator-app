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42" r:id="rId5"/>
    <p:sldId id="359" r:id="rId6"/>
    <p:sldId id="385" r:id="rId7"/>
    <p:sldId id="373" r:id="rId8"/>
    <p:sldId id="384" r:id="rId9"/>
    <p:sldId id="375" r:id="rId10"/>
    <p:sldId id="386" r:id="rId11"/>
    <p:sldId id="387" r:id="rId12"/>
    <p:sldId id="382" r:id="rId13"/>
    <p:sldId id="383" r:id="rId14"/>
    <p:sldId id="388" r:id="rId15"/>
    <p:sldId id="374" r:id="rId16"/>
    <p:sldId id="389" r:id="rId17"/>
    <p:sldId id="3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83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C481-0CC8-06AB-4611-ABA3B17C9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255BC-6453-9BA9-84C8-95D848618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103E4-35D4-EE41-B6FE-6160A0149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7D9BD-23E8-BE31-8080-99353EC83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464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654A-759F-04E2-BD69-2D8A94744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E16D6-3703-F264-E600-662B7E53C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56D7D-A17F-70AD-AE39-1CE663DC0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AC5DE-419D-1231-3039-96585DEE2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552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1C74-7DE3-855C-DB06-F1870EB9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63ADC-6729-F291-BB01-978FCFFD6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C2875-D949-B4F6-DA3B-2AA948D71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E3221-8895-DCAB-8ED7-4110E232D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71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F062-7CB0-57A7-23B7-5B3AADA7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FF7E7-98B3-EA31-C6AC-EC1FCF8A6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1632A-8F55-73C4-9AF0-B67E5EFBB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1D49C-CF8A-F885-0D27-3EC4F7AFB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050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8AD08-E370-E810-A601-B6460459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9A51D-F1A6-BBB6-843B-3DEE675F1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90FE4-4B88-5B6C-2093-1629BCD5A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9FEFE-DD48-FD2B-A6E9-02FF570D4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520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35AF-30E4-AA23-BE8E-4D7D22F0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A5D7F-EDB5-FDA6-8C66-3B1EAA158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DBEC6-D9E1-6B18-4E11-61419130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DA268-15A7-DE2B-9ADC-88BB89CB5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789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CDA3-7BAD-30F6-FA46-1DC0127F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0F8DA-966B-4318-88DF-A3009F1A1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95753-B1E9-CA21-6AB7-19F13C069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BF6-5611-A473-0740-C05C2B04A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146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3DD6E-B9E9-2419-E257-C21B8CE66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820A0-80CC-B9DF-F3DD-9D50895C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3515F-4559-D4D9-2EFE-BAE753944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E54B0-41CB-C6C2-EDD3-45B937858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305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ro-RO" sz="4800" noProof="0" dirty="0"/>
              <a:t>Aplicație traducere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ro-RO" sz="2000" noProof="0" dirty="0"/>
              <a:t>Lupșe Paul-Ștefan</a:t>
            </a:r>
          </a:p>
          <a:p>
            <a:r>
              <a:rPr lang="ro-RO" sz="2000" noProof="0" dirty="0"/>
              <a:t>Matei Darius-Ionuț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00599" y="368300"/>
            <a:ext cx="4466502" cy="1936866"/>
          </a:xfrm>
        </p:spPr>
        <p:txBody>
          <a:bodyPr/>
          <a:lstStyle/>
          <a:p>
            <a:r>
              <a:rPr lang="ro-RO" noProof="0" dirty="0"/>
              <a:t>Tehnologii Utilizate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4800599" y="2850241"/>
            <a:ext cx="4466504" cy="3405187"/>
          </a:xfrm>
        </p:spPr>
        <p:txBody>
          <a:bodyPr anchor="t"/>
          <a:lstStyle/>
          <a:p>
            <a:r>
              <a:rPr lang="ro-RO" sz="2000" noProof="0" dirty="0">
                <a:latin typeface="Corbel" panose="020B0503020204020204" pitchFamily="34" charset="0"/>
              </a:rPr>
              <a:t>Proiectul a fost realizat în mediul de programare PyCharm și în proiect sunt incluse următoarele tehnologii: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sz="2000" noProof="0" dirty="0">
                <a:latin typeface="Corbel" panose="020B0503020204020204" pitchFamily="34" charset="0"/>
              </a:rPr>
              <a:t>Python 3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sz="2000" noProof="0" dirty="0">
                <a:latin typeface="Corbel" panose="020B0503020204020204" pitchFamily="34" charset="0"/>
              </a:rPr>
              <a:t>Pytorch pentru rularea modelului AI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sz="2000" noProof="0" dirty="0">
                <a:latin typeface="Corbel" panose="020B0503020204020204" pitchFamily="34" charset="0"/>
              </a:rPr>
              <a:t>Model AI M2M100_418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sz="2000" noProof="0" dirty="0">
                <a:latin typeface="Corbel" panose="020B0503020204020204" pitchFamily="34" charset="0"/>
              </a:rPr>
              <a:t>Biblioteca Tkinter pentru interfață</a:t>
            </a:r>
          </a:p>
          <a:p>
            <a:endParaRPr lang="ro-RO" sz="2000" noProof="0" dirty="0">
              <a:latin typeface="Corbel" panose="020B05030202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BE74E2-B6D9-5734-E1E2-20368A2C1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626" y="-1875747"/>
            <a:ext cx="2285238" cy="566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6B7747-8000-41C4-31BD-49146CB5E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69338">
            <a:off x="6914656" y="-5229210"/>
            <a:ext cx="2381250" cy="523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51F0E4-76D5-A41C-319D-E69288B22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16353">
            <a:off x="9900986" y="-6961162"/>
            <a:ext cx="1684577" cy="1262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878C85-D838-38F0-14BB-096B88DD95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45969">
            <a:off x="7239724" y="-11087569"/>
            <a:ext cx="1467993" cy="1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5A75E-BCCD-79CC-131B-9DBFA78A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E75F36E-5DE4-6D36-FC84-975B32300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ro-RO" noProof="0" dirty="0"/>
              <a:t>Tehnologii Utilizate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39B9913A-36CD-52B7-B30D-346CF27BD7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853416"/>
            <a:ext cx="4466504" cy="3405187"/>
          </a:xfrm>
        </p:spPr>
        <p:txBody>
          <a:bodyPr anchor="t"/>
          <a:lstStyle/>
          <a:p>
            <a:r>
              <a:rPr lang="ro-RO" sz="2000" noProof="0" dirty="0">
                <a:latin typeface="Corbel" panose="020B0503020204020204" pitchFamily="34" charset="0"/>
              </a:rPr>
              <a:t>Proiectul a fost realizat în mediul de programare PyCharm și în proiect sunt incluse următoarele tehnologii: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sz="2000" noProof="0" dirty="0">
                <a:latin typeface="Corbel" panose="020B0503020204020204" pitchFamily="34" charset="0"/>
              </a:rPr>
              <a:t>Python 3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sz="2000" noProof="0" dirty="0">
                <a:latin typeface="Corbel" panose="020B0503020204020204" pitchFamily="34" charset="0"/>
              </a:rPr>
              <a:t>Pytorch pentru rularea modelului AI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sz="2000" noProof="0" dirty="0">
                <a:latin typeface="Corbel" panose="020B0503020204020204" pitchFamily="34" charset="0"/>
              </a:rPr>
              <a:t>Model AI M2M100_418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sz="2000" noProof="0" dirty="0">
                <a:latin typeface="Corbel" panose="020B0503020204020204" pitchFamily="34" charset="0"/>
              </a:rPr>
              <a:t>Biblioteca Tkinter pentru interfață</a:t>
            </a:r>
          </a:p>
          <a:p>
            <a:endParaRPr lang="ro-RO" sz="2000" noProof="0" dirty="0">
              <a:latin typeface="Corbel" panose="020B05030202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D823D6-B278-9C9C-7B89-900873E4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45969">
            <a:off x="7239724" y="1333558"/>
            <a:ext cx="1467993" cy="14679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050F20-F429-B2A0-9218-E03839C3D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626" y="6258603"/>
            <a:ext cx="2285238" cy="566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8616B0-875B-4ADE-A380-6037FFBCC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69338">
            <a:off x="6914657" y="4568981"/>
            <a:ext cx="2381250" cy="523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25765C-E5B4-815B-DA7C-BB86CC19D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16353">
            <a:off x="9900987" y="2922382"/>
            <a:ext cx="1684577" cy="126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0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3881823">
            <a:off x="-8062629" y="6651857"/>
            <a:ext cx="11562303" cy="701040"/>
          </a:xfrm>
        </p:spPr>
        <p:txBody>
          <a:bodyPr/>
          <a:lstStyle/>
          <a:p>
            <a:r>
              <a:rPr lang="ro-RO" sz="4400" noProof="0" dirty="0"/>
              <a:t>Cerințe de rulare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ro-RO" noProof="0" smtClean="0"/>
              <a:pPr/>
              <a:t>4</a:t>
            </a:fld>
            <a:endParaRPr lang="ro-RO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7EE96-0A91-5E16-FDE8-B457FC49AF52}"/>
              </a:ext>
            </a:extLst>
          </p:cNvPr>
          <p:cNvSpPr txBox="1"/>
          <p:nvPr/>
        </p:nvSpPr>
        <p:spPr>
          <a:xfrm rot="7661029">
            <a:off x="12562952" y="-2291774"/>
            <a:ext cx="3801041" cy="227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CPU: Intel i5 generația 4</a:t>
            </a:r>
          </a:p>
          <a:p>
            <a:pPr>
              <a:lnSpc>
                <a:spcPct val="120000"/>
              </a:lnSpc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RAM: minim 4 GB</a:t>
            </a:r>
            <a:b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GPU: nu e necesar</a:t>
            </a:r>
            <a:b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HDD/SSD: 1 GB liber</a:t>
            </a:r>
          </a:p>
          <a:p>
            <a:pPr>
              <a:lnSpc>
                <a:spcPct val="120000"/>
              </a:lnSpc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Conexiune la internet stabilă</a:t>
            </a: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8178596E-0C00-97E9-57FC-0BDFA5DF688B}"/>
              </a:ext>
            </a:extLst>
          </p:cNvPr>
          <p:cNvSpPr txBox="1">
            <a:spLocks/>
          </p:cNvSpPr>
          <p:nvPr/>
        </p:nvSpPr>
        <p:spPr>
          <a:xfrm rot="7700195">
            <a:off x="13383149" y="16955692"/>
            <a:ext cx="11562303" cy="701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0" i="0" kern="120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noProof="0" dirty="0"/>
              <a:t>Mod de Utilizare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6400A3-6993-BB03-B576-962AA75725DA}"/>
              </a:ext>
            </a:extLst>
          </p:cNvPr>
          <p:cNvSpPr txBox="1"/>
          <p:nvPr/>
        </p:nvSpPr>
        <p:spPr>
          <a:xfrm rot="11329741">
            <a:off x="793080" y="15336071"/>
            <a:ext cx="8562479" cy="1835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Cel mai ușor mod de rulare este prin rularea executabilului.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Utilizatorii mai avansați pot opta pentru rularea manuală a codului sursă prin intermediul unui emulator de terminal, de exemplu (CMD, PowerShell, Bash etc.). </a:t>
            </a:r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13EDC-60B7-5FE3-C437-4CDC3C24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3B903D4C-1561-0FBE-210B-B43514C31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9" y="579121"/>
            <a:ext cx="11562303" cy="701040"/>
          </a:xfrm>
        </p:spPr>
        <p:txBody>
          <a:bodyPr/>
          <a:lstStyle/>
          <a:p>
            <a:r>
              <a:rPr lang="ro-RO" sz="4400" noProof="0" dirty="0"/>
              <a:t>Cerințe de rulare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2146C4-9E97-B0AA-0E21-9D686D9B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ro-RO" noProof="0" smtClean="0"/>
              <a:pPr/>
              <a:t>5</a:t>
            </a:fld>
            <a:endParaRPr lang="ro-RO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8EBDA-7C65-0B06-3158-F66F0586DF85}"/>
              </a:ext>
            </a:extLst>
          </p:cNvPr>
          <p:cNvSpPr txBox="1"/>
          <p:nvPr/>
        </p:nvSpPr>
        <p:spPr>
          <a:xfrm>
            <a:off x="4085703" y="1270576"/>
            <a:ext cx="3801041" cy="2278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CPU: Intel i5 generația 4</a:t>
            </a:r>
          </a:p>
          <a:p>
            <a:pPr>
              <a:lnSpc>
                <a:spcPct val="120000"/>
              </a:lnSpc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RAM: minim 4 GB</a:t>
            </a:r>
            <a:b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GPU: nu e necesar</a:t>
            </a:r>
            <a:b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HDD/SSD: 1 GB liber</a:t>
            </a:r>
          </a:p>
          <a:p>
            <a:pPr>
              <a:lnSpc>
                <a:spcPct val="120000"/>
              </a:lnSpc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Conexiune la internet stabilă</a:t>
            </a: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46F55BBE-A277-D506-F369-434056805295}"/>
              </a:ext>
            </a:extLst>
          </p:cNvPr>
          <p:cNvSpPr txBox="1">
            <a:spLocks/>
          </p:cNvSpPr>
          <p:nvPr/>
        </p:nvSpPr>
        <p:spPr>
          <a:xfrm>
            <a:off x="314848" y="3773092"/>
            <a:ext cx="11562303" cy="701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0" i="0" kern="120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noProof="0" dirty="0"/>
              <a:t>Mod de Utilizare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32AC1-2D7C-E9FD-F3A3-C9E0E92D2CE0}"/>
              </a:ext>
            </a:extLst>
          </p:cNvPr>
          <p:cNvSpPr txBox="1"/>
          <p:nvPr/>
        </p:nvSpPr>
        <p:spPr>
          <a:xfrm>
            <a:off x="1821780" y="4325172"/>
            <a:ext cx="8562479" cy="1835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Cel mai ușor mod de rulare este prin rularea executabilului.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o-RO" sz="2400" noProof="0" dirty="0">
                <a:solidFill>
                  <a:schemeClr val="bg1"/>
                </a:solidFill>
                <a:latin typeface="Corbel" panose="020B0503020204020204" pitchFamily="34" charset="0"/>
              </a:rPr>
              <a:t>Utilizatorii mai avansați pot opta pentru rularea manuală a codului sursă prin intermediul unui emulator de terminal, de exemplu (CMD, PowerShell, Bash etc.). </a:t>
            </a:r>
          </a:p>
        </p:txBody>
      </p:sp>
    </p:spTree>
    <p:extLst>
      <p:ext uri="{BB962C8B-B14F-4D97-AF65-F5344CB8AC3E}">
        <p14:creationId xmlns:p14="http://schemas.microsoft.com/office/powerpoint/2010/main" val="943725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6029848"/>
            <a:ext cx="7420819" cy="1656304"/>
          </a:xfrm>
        </p:spPr>
        <p:txBody>
          <a:bodyPr/>
          <a:lstStyle/>
          <a:p>
            <a:r>
              <a:rPr lang="ro-RO" noProof="0" dirty="0"/>
              <a:t>Modelul folosit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-10043955"/>
            <a:ext cx="7420819" cy="36766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ro-RO" sz="2200" noProof="0" dirty="0">
                <a:latin typeface="Corbel" panose="020B0503020204020204" pitchFamily="34" charset="0"/>
              </a:rPr>
              <a:t>M2M100_418M (Many-to-Many Multilingual Translation) este un model AI dezvoltat de Meta (Facebook) pentru traducere automată între 100 de limbi, capabil să traducă direct între orice pereche de limbi, fără limbă intermediară.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2200" noProof="0" dirty="0">
                <a:latin typeface="Corbel" panose="020B0503020204020204" pitchFamily="34" charset="0"/>
              </a:rPr>
              <a:t>Este un model de tip </a:t>
            </a:r>
            <a:r>
              <a:rPr lang="ro-RO" sz="2200" b="1" noProof="0" dirty="0">
                <a:latin typeface="Corbel" panose="020B0503020204020204" pitchFamily="34" charset="0"/>
              </a:rPr>
              <a:t>Transformer Encoder–Decoder</a:t>
            </a:r>
            <a:r>
              <a:rPr lang="ro-RO" sz="2200" noProof="0" dirty="0">
                <a:latin typeface="Corbel" panose="020B0503020204020204" pitchFamily="34" charset="0"/>
              </a:rPr>
              <a:t>, specializat exclusiv pentru traducere.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2200" noProof="0" dirty="0">
                <a:latin typeface="Corbel" panose="020B0503020204020204" pitchFamily="34" charset="0"/>
              </a:rPr>
              <a:t>Numele vine de la M2M100_418M — „many-to-many for 100 languages” — și 418M indică faptul că are aproximativ 418 milioane de parametri.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ro-RO" noProof="0" smtClean="0"/>
              <a:pPr/>
              <a:t>6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8C22A-D5F9-0886-0B8E-DE0D6E34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E5A8-F386-479A-1F2B-DF90B323E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ro-RO" noProof="0" dirty="0"/>
              <a:t>Modelul folosit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BCE47-5888-3E99-69E7-DD6170197DA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8" y="2160745"/>
            <a:ext cx="7420819" cy="36766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ro-RO" sz="2200" noProof="0" dirty="0">
                <a:latin typeface="Corbel" panose="020B0503020204020204" pitchFamily="34" charset="0"/>
              </a:rPr>
              <a:t>M2M100_418M (Many-to-Many Multilingual Translation) este un model AI dezvoltat de Meta (Facebook) pentru traducere automată între 100 de limbi, capabil să traducă direct între orice pereche de limbi, fără limbă intermediară.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2200" noProof="0" dirty="0">
                <a:latin typeface="Corbel" panose="020B0503020204020204" pitchFamily="34" charset="0"/>
              </a:rPr>
              <a:t>Este un model de tip </a:t>
            </a:r>
            <a:r>
              <a:rPr lang="ro-RO" sz="2200" b="1" noProof="0" dirty="0">
                <a:latin typeface="Corbel" panose="020B0503020204020204" pitchFamily="34" charset="0"/>
              </a:rPr>
              <a:t>Transformer Encoder–Decoder</a:t>
            </a:r>
            <a:r>
              <a:rPr lang="ro-RO" sz="2200" noProof="0" dirty="0">
                <a:latin typeface="Corbel" panose="020B0503020204020204" pitchFamily="34" charset="0"/>
              </a:rPr>
              <a:t>, specializat exclusiv pentru traducere.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2200" noProof="0" dirty="0">
                <a:latin typeface="Corbel" panose="020B0503020204020204" pitchFamily="34" charset="0"/>
              </a:rPr>
              <a:t>Numele </a:t>
            </a:r>
            <a:r>
              <a:rPr lang="ro-RO" sz="2200" dirty="0">
                <a:latin typeface="Corbel" panose="020B0503020204020204" pitchFamily="34" charset="0"/>
              </a:rPr>
              <a:t>M2M100 vine de la </a:t>
            </a:r>
            <a:r>
              <a:rPr lang="ro-RO" sz="2200" noProof="0" dirty="0">
                <a:latin typeface="Corbel" panose="020B0503020204020204" pitchFamily="34" charset="0"/>
              </a:rPr>
              <a:t>„many-to-many for 100 languages” și 418M indică faptul că are aproximativ 418 milioane de parametri.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FAE4C-C66D-B9A0-8255-4E7C1EAD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ro-RO" noProof="0" smtClean="0"/>
              <a:pPr/>
              <a:t>7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537611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5FB98-12AF-0B67-2110-9E8843A52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4B2CB6FB-618B-36E0-42D0-861606CFB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>
            <a:off x="321869" y="-1763965"/>
            <a:ext cx="11562303" cy="701040"/>
          </a:xfrm>
        </p:spPr>
        <p:txBody>
          <a:bodyPr/>
          <a:lstStyle/>
          <a:p>
            <a:r>
              <a:rPr lang="ro-RO" sz="4400" noProof="0" dirty="0"/>
              <a:t>Procesarea textului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C9082D-4B3D-CC3E-D634-06810284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24F78-56A6-7740-B68D-8D4D026EDF3F}" type="slidenum">
              <a:rPr kumimoji="0" lang="ro-RO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ome"/>
                <a:ea typeface="+mn-ea"/>
                <a:cs typeface="Biome" panose="020B05030302040208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o-RO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iome"/>
              <a:ea typeface="+mn-ea"/>
              <a:cs typeface="Biome" panose="020B05030302040208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C9D3F-E04E-328D-B764-CB096D036F41}"/>
              </a:ext>
            </a:extLst>
          </p:cNvPr>
          <p:cNvSpPr txBox="1"/>
          <p:nvPr/>
        </p:nvSpPr>
        <p:spPr>
          <a:xfrm rot="8226101">
            <a:off x="-2088519" y="-2454134"/>
            <a:ext cx="166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noProof="0" dirty="0">
                <a:solidFill>
                  <a:schemeClr val="bg1"/>
                </a:solidFill>
              </a:rPr>
              <a:t>1.  Tokenizare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69249-B07D-B9FB-0541-2F990352880B}"/>
              </a:ext>
            </a:extLst>
          </p:cNvPr>
          <p:cNvSpPr txBox="1"/>
          <p:nvPr/>
        </p:nvSpPr>
        <p:spPr>
          <a:xfrm rot="14738320">
            <a:off x="15667966" y="-806220"/>
            <a:ext cx="3709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noProof="0" dirty="0">
                <a:solidFill>
                  <a:schemeClr val="bg1"/>
                </a:solidFill>
              </a:rPr>
              <a:t>2.  Encoder - înțelegerea textului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43BCD-4208-D539-8EDA-2F140876927A}"/>
              </a:ext>
            </a:extLst>
          </p:cNvPr>
          <p:cNvSpPr txBox="1"/>
          <p:nvPr/>
        </p:nvSpPr>
        <p:spPr>
          <a:xfrm rot="2836588">
            <a:off x="-5443569" y="10449186"/>
            <a:ext cx="3887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noProof="0" dirty="0">
                <a:solidFill>
                  <a:schemeClr val="bg1"/>
                </a:solidFill>
              </a:rPr>
              <a:t>3.  Decoder – generarea traducerii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29E94-81D4-D920-5504-D7FA02020FE5}"/>
              </a:ext>
            </a:extLst>
          </p:cNvPr>
          <p:cNvSpPr txBox="1"/>
          <p:nvPr/>
        </p:nvSpPr>
        <p:spPr>
          <a:xfrm>
            <a:off x="-5709385" y="-4279329"/>
            <a:ext cx="4418978" cy="1390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noProof="0" dirty="0">
                <a:solidFill>
                  <a:schemeClr val="bg1"/>
                </a:solidFill>
              </a:rPr>
              <a:t>    Textul introdus este împărțit în sub-unități (tokeni) și transformat în numere, deoarece modelul lucrează doar cu valori numerice, nu cu litere sau cuvinte.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87892-6D4C-80D2-C6F6-1E820AE10CBD}"/>
              </a:ext>
            </a:extLst>
          </p:cNvPr>
          <p:cNvSpPr txBox="1"/>
          <p:nvPr/>
        </p:nvSpPr>
        <p:spPr>
          <a:xfrm>
            <a:off x="18140172" y="-2108924"/>
            <a:ext cx="5470219" cy="1390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noProof="0" dirty="0">
                <a:solidFill>
                  <a:schemeClr val="bg1"/>
                </a:solidFill>
              </a:rPr>
              <a:t>    Partea de encoder analizează propoziția sursă și construiește o reprezentare matematică a sensului ei, folosind mecanismul de </a:t>
            </a:r>
            <a:r>
              <a:rPr lang="ro-RO" b="1" noProof="0" dirty="0">
                <a:solidFill>
                  <a:schemeClr val="bg1"/>
                </a:solidFill>
              </a:rPr>
              <a:t>self-attention</a:t>
            </a:r>
            <a:r>
              <a:rPr lang="ro-RO" noProof="0" dirty="0">
                <a:solidFill>
                  <a:schemeClr val="bg1"/>
                </a:solidFill>
              </a:rPr>
              <a:t> pentru a surprinde relațiile dintre cuvinte.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2928A-69AD-0045-B44E-FF27FA8EC33F}"/>
              </a:ext>
            </a:extLst>
          </p:cNvPr>
          <p:cNvSpPr txBox="1"/>
          <p:nvPr/>
        </p:nvSpPr>
        <p:spPr>
          <a:xfrm>
            <a:off x="-8428512" y="11491554"/>
            <a:ext cx="4928616" cy="1390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noProof="0" dirty="0">
                <a:solidFill>
                  <a:schemeClr val="bg1"/>
                </a:solidFill>
              </a:rPr>
              <a:t>    Decoderul folosește această reprezentare și generează propoziția tradusă, cuvânt cu cuvânt, în limba țintă, ținând cont de contextul global.</a:t>
            </a:r>
          </a:p>
        </p:txBody>
      </p:sp>
    </p:spTree>
    <p:extLst>
      <p:ext uri="{BB962C8B-B14F-4D97-AF65-F5344CB8AC3E}">
        <p14:creationId xmlns:p14="http://schemas.microsoft.com/office/powerpoint/2010/main" val="812139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7594-5572-0970-8690-B2F69052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7508554-7C82-3A7F-9BF1-D20186256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9" y="579121"/>
            <a:ext cx="11562303" cy="701040"/>
          </a:xfrm>
        </p:spPr>
        <p:txBody>
          <a:bodyPr/>
          <a:lstStyle/>
          <a:p>
            <a:r>
              <a:rPr lang="ro-RO" sz="4400" noProof="0" dirty="0"/>
              <a:t>Procesarea textului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E57310-86E4-0F05-55EE-09EEEAAD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24F78-56A6-7740-B68D-8D4D026EDF3F}" type="slidenum">
              <a:rPr kumimoji="0" lang="ro-RO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ome"/>
                <a:ea typeface="+mn-ea"/>
                <a:cs typeface="Biome" panose="020B05030302040208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o-RO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iome"/>
              <a:ea typeface="+mn-ea"/>
              <a:cs typeface="Biome" panose="020B05030302040208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6C0D47-9300-A0A5-984F-6F1727AD143E}"/>
              </a:ext>
            </a:extLst>
          </p:cNvPr>
          <p:cNvSpPr txBox="1"/>
          <p:nvPr/>
        </p:nvSpPr>
        <p:spPr>
          <a:xfrm>
            <a:off x="1797681" y="1813066"/>
            <a:ext cx="158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noProof="0" dirty="0">
                <a:solidFill>
                  <a:schemeClr val="bg1"/>
                </a:solidFill>
              </a:rPr>
              <a:t>1.  </a:t>
            </a:r>
            <a:r>
              <a:rPr lang="ro-RO" b="1" noProof="0" dirty="0">
                <a:solidFill>
                  <a:schemeClr val="bg1"/>
                </a:solidFill>
                <a:latin typeface="Corbel" panose="020B0503020204020204" pitchFamily="34" charset="0"/>
              </a:rPr>
              <a:t>Tokenizare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357B93-39AF-76EB-9101-34777066B58D}"/>
              </a:ext>
            </a:extLst>
          </p:cNvPr>
          <p:cNvSpPr txBox="1"/>
          <p:nvPr/>
        </p:nvSpPr>
        <p:spPr>
          <a:xfrm>
            <a:off x="7171666" y="2724912"/>
            <a:ext cx="341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noProof="0" dirty="0">
                <a:solidFill>
                  <a:schemeClr val="bg1"/>
                </a:solidFill>
                <a:latin typeface="Corbel" panose="020B0503020204020204" pitchFamily="34" charset="0"/>
              </a:rPr>
              <a:t>2.  Encoder - înțelegerea textului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C8943-7C1C-212E-4182-74832FCE52DF}"/>
              </a:ext>
            </a:extLst>
          </p:cNvPr>
          <p:cNvSpPr txBox="1"/>
          <p:nvPr/>
        </p:nvSpPr>
        <p:spPr>
          <a:xfrm>
            <a:off x="1870833" y="4353186"/>
            <a:ext cx="354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noProof="0" dirty="0">
                <a:solidFill>
                  <a:schemeClr val="bg1"/>
                </a:solidFill>
              </a:rPr>
              <a:t>3.  </a:t>
            </a:r>
            <a:r>
              <a:rPr lang="ro-RO" b="1" noProof="0" dirty="0">
                <a:solidFill>
                  <a:schemeClr val="bg1"/>
                </a:solidFill>
                <a:latin typeface="Corbel" panose="020B0503020204020204" pitchFamily="34" charset="0"/>
              </a:rPr>
              <a:t>Decoder – generarea traducerii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CF1BA-BB97-F12A-F93A-DD2F90BC575F}"/>
              </a:ext>
            </a:extLst>
          </p:cNvPr>
          <p:cNvSpPr txBox="1"/>
          <p:nvPr/>
        </p:nvSpPr>
        <p:spPr>
          <a:xfrm>
            <a:off x="975747" y="2216509"/>
            <a:ext cx="4418978" cy="1390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noProof="0" dirty="0">
                <a:solidFill>
                  <a:schemeClr val="bg1"/>
                </a:solidFill>
                <a:latin typeface="Corbel" panose="020B0503020204020204" pitchFamily="34" charset="0"/>
              </a:rPr>
              <a:t>    Textul introdus este împărțit în sub-unități (tokeni) și transformat în numere, deoarece modelul lucrează doar cu valori numerice, nu cu litere sau cuvinte.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FFF1D-8E54-EA66-B92A-470799A27FDD}"/>
              </a:ext>
            </a:extLst>
          </p:cNvPr>
          <p:cNvSpPr txBox="1"/>
          <p:nvPr/>
        </p:nvSpPr>
        <p:spPr>
          <a:xfrm>
            <a:off x="6291072" y="3094244"/>
            <a:ext cx="5470219" cy="1390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noProof="0" dirty="0">
                <a:solidFill>
                  <a:schemeClr val="bg1"/>
                </a:solidFill>
                <a:latin typeface="Corbel" panose="020B0503020204020204" pitchFamily="34" charset="0"/>
              </a:rPr>
              <a:t>    Partea de encoder analizează propoziția sursă și construiește o reprezentare matematică a sensului ei, folosind mecanismul de </a:t>
            </a:r>
            <a:r>
              <a:rPr lang="ro-RO" b="1" noProof="0" dirty="0">
                <a:solidFill>
                  <a:schemeClr val="bg1"/>
                </a:solidFill>
                <a:latin typeface="Corbel" panose="020B0503020204020204" pitchFamily="34" charset="0"/>
              </a:rPr>
              <a:t>self-attention</a:t>
            </a:r>
            <a:r>
              <a:rPr lang="ro-RO" noProof="0" dirty="0">
                <a:solidFill>
                  <a:schemeClr val="bg1"/>
                </a:solidFill>
                <a:latin typeface="Corbel" panose="020B0503020204020204" pitchFamily="34" charset="0"/>
              </a:rPr>
              <a:t> pentru a surprinde relațiile dintre cuvinte.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CC418-52C4-1061-FEFD-9DC8736D66BC}"/>
              </a:ext>
            </a:extLst>
          </p:cNvPr>
          <p:cNvSpPr txBox="1"/>
          <p:nvPr/>
        </p:nvSpPr>
        <p:spPr>
          <a:xfrm>
            <a:off x="1350198" y="4722518"/>
            <a:ext cx="4928616" cy="106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noProof="0" dirty="0">
                <a:solidFill>
                  <a:schemeClr val="bg1"/>
                </a:solidFill>
                <a:latin typeface="Corbel" panose="020B0503020204020204" pitchFamily="34" charset="0"/>
              </a:rPr>
              <a:t>    Decoder-ul folosește această reprezentare și generează propoziția tradusă, cuvânt cu cuvânt, în limba țintă, ținând cont de contextul global.</a:t>
            </a:r>
          </a:p>
        </p:txBody>
      </p:sp>
    </p:spTree>
    <p:extLst>
      <p:ext uri="{BB962C8B-B14F-4D97-AF65-F5344CB8AC3E}">
        <p14:creationId xmlns:p14="http://schemas.microsoft.com/office/powerpoint/2010/main" val="1663478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4B35-328C-B5C1-C2B2-57998BC0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9D9AF7-F2C1-A5C5-811F-21754DF6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24F78-56A6-7740-B68D-8D4D026EDF3F}" type="slidenum">
              <a:rPr kumimoji="0" lang="ro-RO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ome"/>
                <a:ea typeface="+mn-ea"/>
                <a:cs typeface="Biome" panose="020B05030302040208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o-RO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iome"/>
              <a:ea typeface="+mn-ea"/>
              <a:cs typeface="Biome" panose="020B05030302040208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0035DE-A358-DD28-6E3C-CACAEFF64257}"/>
              </a:ext>
            </a:extLst>
          </p:cNvPr>
          <p:cNvSpPr txBox="1"/>
          <p:nvPr/>
        </p:nvSpPr>
        <p:spPr>
          <a:xfrm>
            <a:off x="6470121" y="7231382"/>
            <a:ext cx="3378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</a:t>
            </a:r>
            <a:r>
              <a:rPr lang="ro-RO" b="1" noProof="0" dirty="0">
                <a:solidFill>
                  <a:schemeClr val="bg1"/>
                </a:solidFill>
              </a:rPr>
              <a:t>.  </a:t>
            </a:r>
            <a:r>
              <a:rPr lang="en-US" b="1" dirty="0" err="1">
                <a:solidFill>
                  <a:schemeClr val="bg1"/>
                </a:solidFill>
              </a:rPr>
              <a:t>Mecanismul</a:t>
            </a:r>
            <a:r>
              <a:rPr lang="en-US" b="1" dirty="0">
                <a:solidFill>
                  <a:schemeClr val="bg1"/>
                </a:solidFill>
              </a:rPr>
              <a:t> Self-Attention</a:t>
            </a:r>
            <a:endParaRPr lang="ro-RO" b="1" noProof="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73EB9-EF18-30BA-00C3-234FC1700682}"/>
              </a:ext>
            </a:extLst>
          </p:cNvPr>
          <p:cNvSpPr txBox="1"/>
          <p:nvPr/>
        </p:nvSpPr>
        <p:spPr>
          <a:xfrm>
            <a:off x="2273360" y="-810591"/>
            <a:ext cx="21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  </a:t>
            </a:r>
            <a:r>
              <a:rPr lang="en-US" b="1" dirty="0" err="1">
                <a:solidFill>
                  <a:schemeClr val="bg1"/>
                </a:solidFill>
              </a:rPr>
              <a:t>Controlul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limbii</a:t>
            </a:r>
            <a:endParaRPr lang="ro-RO" b="1" noProof="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615D8-F1C2-D60C-3F00-CF6EF6BCAF07}"/>
              </a:ext>
            </a:extLst>
          </p:cNvPr>
          <p:cNvSpPr txBox="1"/>
          <p:nvPr/>
        </p:nvSpPr>
        <p:spPr>
          <a:xfrm>
            <a:off x="5535067" y="12393474"/>
            <a:ext cx="5943577" cy="2720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</a:rPr>
              <a:t>    Self-attention </a:t>
            </a:r>
            <a:r>
              <a:rPr lang="en-US" dirty="0" err="1">
                <a:solidFill>
                  <a:schemeClr val="bg1"/>
                </a:solidFill>
              </a:rPr>
              <a:t>permite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fiecărui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cuvânt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țină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cont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toate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celelalte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cuvinte</a:t>
            </a:r>
            <a:r>
              <a:rPr lang="en-US" dirty="0">
                <a:solidFill>
                  <a:schemeClr val="bg1"/>
                </a:solidFill>
              </a:rPr>
              <a:t> din </a:t>
            </a:r>
            <a:r>
              <a:rPr lang="en-US" dirty="0" err="1">
                <a:solidFill>
                  <a:schemeClr val="bg1"/>
                </a:solidFill>
              </a:rPr>
              <a:t>propoziție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ceea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ajută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modelul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să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1"/>
                </a:solidFill>
              </a:rPr>
              <a:t>înțeleagă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structura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gramaticală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1"/>
                </a:solidFill>
              </a:rPr>
              <a:t>păstreze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sensul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propoziției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it-IT" dirty="0">
                <a:solidFill>
                  <a:schemeClr val="bg1"/>
                </a:solidFill>
              </a:rPr>
              <a:t>evite traducerile mecanice, cuvânt cu cuvânt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ro-RO" noProof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4C55B6-A62B-3BD4-B0C0-CF0DFAA736B7}"/>
              </a:ext>
            </a:extLst>
          </p:cNvPr>
          <p:cNvSpPr txBox="1"/>
          <p:nvPr/>
        </p:nvSpPr>
        <p:spPr>
          <a:xfrm>
            <a:off x="1089928" y="-7637775"/>
            <a:ext cx="4631952" cy="1390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Modelul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ghidat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către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limba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dorită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printr</a:t>
            </a:r>
            <a:r>
              <a:rPr lang="en-US" dirty="0">
                <a:solidFill>
                  <a:schemeClr val="bg1"/>
                </a:solidFill>
              </a:rPr>
              <a:t>-un token special de </a:t>
            </a:r>
            <a:r>
              <a:rPr lang="en-US" dirty="0" err="1">
                <a:solidFill>
                  <a:schemeClr val="bg1"/>
                </a:solidFill>
              </a:rPr>
              <a:t>limbă</a:t>
            </a:r>
            <a:r>
              <a:rPr lang="en-US" dirty="0">
                <a:solidFill>
                  <a:schemeClr val="bg1"/>
                </a:solidFill>
              </a:rPr>
              <a:t>, care </a:t>
            </a:r>
            <a:r>
              <a:rPr lang="en-US" dirty="0" err="1">
                <a:solidFill>
                  <a:schemeClr val="bg1"/>
                </a:solidFill>
              </a:rPr>
              <a:t>îi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spune</a:t>
            </a:r>
            <a:r>
              <a:rPr lang="en-US" dirty="0">
                <a:solidFill>
                  <a:schemeClr val="bg1"/>
                </a:solidFill>
              </a:rPr>
              <a:t> explicit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limbă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trebuie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genereze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rezultatul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ro-RO" noProof="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07D63A-082A-556B-F7F3-156B1F6A9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44594" y="-2874264"/>
            <a:ext cx="57149" cy="45719"/>
          </a:xfrm>
          <a:prstGeom prst="rect">
            <a:avLst/>
          </a:prstGeom>
          <a:effectLst>
            <a:softEdge rad="1143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D03F7A-F264-4AD1-D554-7AE8A8461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2449" y="7393189"/>
            <a:ext cx="85671" cy="45719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3412700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C302-AD2A-4C9A-991C-8118EC867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AC313-894A-01F1-B712-841711F6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24F78-56A6-7740-B68D-8D4D026EDF3F}" type="slidenum">
              <a:rPr kumimoji="0" lang="ro-RO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ome"/>
                <a:ea typeface="+mn-ea"/>
                <a:cs typeface="Biome" panose="020B05030302040208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o-RO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iome"/>
              <a:ea typeface="+mn-ea"/>
              <a:cs typeface="Biome" panose="020B05030302040208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AFE55C-4CE6-60F3-A718-8060CDB1D3B1}"/>
              </a:ext>
            </a:extLst>
          </p:cNvPr>
          <p:cNvSpPr txBox="1"/>
          <p:nvPr/>
        </p:nvSpPr>
        <p:spPr>
          <a:xfrm>
            <a:off x="6470121" y="865370"/>
            <a:ext cx="3144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</a:rPr>
              <a:t>4</a:t>
            </a:r>
            <a:r>
              <a:rPr lang="ro-RO" b="1" noProof="0" dirty="0">
                <a:solidFill>
                  <a:schemeClr val="bg1"/>
                </a:solidFill>
                <a:latin typeface="Corbel" panose="020B0503020204020204" pitchFamily="34" charset="0"/>
              </a:rPr>
              <a:t>.  </a:t>
            </a:r>
            <a:r>
              <a:rPr lang="en-US" b="1" dirty="0" err="1">
                <a:solidFill>
                  <a:schemeClr val="bg1"/>
                </a:solidFill>
                <a:latin typeface="Corbel" panose="020B0503020204020204" pitchFamily="34" charset="0"/>
              </a:rPr>
              <a:t>Mecanismul</a:t>
            </a: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</a:rPr>
              <a:t> Self-Attention</a:t>
            </a:r>
            <a:endParaRPr lang="ro-RO" b="1" noProof="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DCD5A-127D-F56A-573F-2D5BCE753D37}"/>
              </a:ext>
            </a:extLst>
          </p:cNvPr>
          <p:cNvSpPr txBox="1"/>
          <p:nvPr/>
        </p:nvSpPr>
        <p:spPr>
          <a:xfrm>
            <a:off x="1997802" y="3958990"/>
            <a:ext cx="1983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</a:rPr>
              <a:t>5.  </a:t>
            </a:r>
            <a:r>
              <a:rPr lang="en-US" b="1" dirty="0" err="1">
                <a:solidFill>
                  <a:schemeClr val="bg1"/>
                </a:solidFill>
                <a:latin typeface="Corbel" panose="020B0503020204020204" pitchFamily="34" charset="0"/>
              </a:rPr>
              <a:t>Controlul</a:t>
            </a: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rbel" panose="020B0503020204020204" pitchFamily="34" charset="0"/>
              </a:rPr>
              <a:t>limbii</a:t>
            </a:r>
            <a:endParaRPr lang="ro-RO" b="1" noProof="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1F937-CB9E-F62F-8382-C33DE3789166}"/>
              </a:ext>
            </a:extLst>
          </p:cNvPr>
          <p:cNvSpPr txBox="1"/>
          <p:nvPr/>
        </p:nvSpPr>
        <p:spPr>
          <a:xfrm>
            <a:off x="5458968" y="1302687"/>
            <a:ext cx="5943577" cy="2396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   Self-attention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permite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fiecărui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cuvânt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să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țină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cont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toate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celelalte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cuvinte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din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propoziție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ceea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ajută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modelul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să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: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înțeleagă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structura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gramaticală</a:t>
            </a:r>
            <a:endParaRPr lang="en-US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păstreze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sensul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propoziției</a:t>
            </a:r>
            <a:endParaRPr lang="en-US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it-IT" dirty="0">
                <a:solidFill>
                  <a:schemeClr val="bg1"/>
                </a:solidFill>
                <a:latin typeface="Corbel" panose="020B0503020204020204" pitchFamily="34" charset="0"/>
              </a:rPr>
              <a:t>evite traducerile mecanice, cuvânt cu cuvânt</a:t>
            </a:r>
            <a:endParaRPr lang="en-US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>
              <a:lnSpc>
                <a:spcPct val="120000"/>
              </a:lnSpc>
            </a:pPr>
            <a:endParaRPr lang="ro-RO" noProof="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B4069-1C14-F6B8-CC48-DB6E4D8FC5DF}"/>
              </a:ext>
            </a:extLst>
          </p:cNvPr>
          <p:cNvSpPr txBox="1"/>
          <p:nvPr/>
        </p:nvSpPr>
        <p:spPr>
          <a:xfrm>
            <a:off x="1037328" y="4354984"/>
            <a:ext cx="4631952" cy="106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Modelul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este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ghidat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către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limba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dorită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printr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-un token special de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limbă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, care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îi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spune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explicit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limbă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trebuie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să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genereze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rezultatul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.</a:t>
            </a:r>
            <a:endParaRPr lang="ro-RO" noProof="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291B68-4CC2-A481-F20D-58FC7AF2D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606" y="1050036"/>
            <a:ext cx="2986278" cy="2389022"/>
          </a:xfrm>
          <a:prstGeom prst="rect">
            <a:avLst/>
          </a:prstGeom>
          <a:effectLst>
            <a:softEdge rad="1143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605CFA-B1FF-D899-8690-104112E71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049" y="3849889"/>
            <a:ext cx="3897414" cy="2079893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815881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4363224">
            <a:off x="-4420922" y="-2568354"/>
            <a:ext cx="4250127" cy="540631"/>
          </a:xfrm>
        </p:spPr>
        <p:txBody>
          <a:bodyPr/>
          <a:lstStyle/>
          <a:p>
            <a:r>
              <a:rPr lang="en-US" noProof="0" dirty="0" err="1"/>
              <a:t>Performan</a:t>
            </a:r>
            <a:r>
              <a:rPr lang="ro-RO" dirty="0"/>
              <a:t>ță</a:t>
            </a:r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ro-RO" noProof="0" smtClean="0"/>
              <a:pPr/>
              <a:t>12</a:t>
            </a:fld>
            <a:endParaRPr lang="ro-RO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5D12DC-594C-9C88-73BA-7F95FD378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71475" y="942960"/>
            <a:ext cx="5322888" cy="807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F88ADA-DE23-74CB-88DE-69AFD4B5FD0B}"/>
              </a:ext>
            </a:extLst>
          </p:cNvPr>
          <p:cNvSpPr txBox="1"/>
          <p:nvPr/>
        </p:nvSpPr>
        <p:spPr>
          <a:xfrm>
            <a:off x="13851779" y="1324390"/>
            <a:ext cx="2537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Antrenarea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modelului</a:t>
            </a:r>
            <a:endParaRPr lang="ro-RO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8D418-7B7A-461D-1C8B-F469FB52A822}"/>
              </a:ext>
            </a:extLst>
          </p:cNvPr>
          <p:cNvSpPr txBox="1"/>
          <p:nvPr/>
        </p:nvSpPr>
        <p:spPr>
          <a:xfrm>
            <a:off x="-7915275" y="1735077"/>
            <a:ext cx="5322888" cy="1390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dirty="0">
                <a:solidFill>
                  <a:schemeClr val="bg1"/>
                </a:solidFill>
              </a:rPr>
              <a:t>    </a:t>
            </a:r>
            <a:r>
              <a:rPr lang="en-US" dirty="0">
                <a:solidFill>
                  <a:schemeClr val="bg1"/>
                </a:solidFill>
              </a:rPr>
              <a:t>M2M100 a </a:t>
            </a:r>
            <a:r>
              <a:rPr lang="en-US" dirty="0" err="1">
                <a:solidFill>
                  <a:schemeClr val="bg1"/>
                </a:solidFill>
              </a:rPr>
              <a:t>fost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antrenat</a:t>
            </a:r>
            <a:r>
              <a:rPr lang="en-US" dirty="0">
                <a:solidFill>
                  <a:schemeClr val="bg1"/>
                </a:solidFill>
              </a:rPr>
              <a:t> pe </a:t>
            </a:r>
            <a:r>
              <a:rPr lang="en-US" dirty="0" err="1">
                <a:solidFill>
                  <a:schemeClr val="bg1"/>
                </a:solidFill>
              </a:rPr>
              <a:t>miliarde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propoziții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traduse</a:t>
            </a:r>
            <a:r>
              <a:rPr lang="en-US" dirty="0">
                <a:solidFill>
                  <a:schemeClr val="bg1"/>
                </a:solidFill>
              </a:rPr>
              <a:t> din </a:t>
            </a:r>
            <a:r>
              <a:rPr lang="en-US" dirty="0" err="1">
                <a:solidFill>
                  <a:schemeClr val="bg1"/>
                </a:solidFill>
              </a:rPr>
              <a:t>surse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reale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documente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oficiale</a:t>
            </a:r>
            <a:r>
              <a:rPr lang="en-US" dirty="0">
                <a:solidFill>
                  <a:schemeClr val="bg1"/>
                </a:solidFill>
              </a:rPr>
              <a:t>, web, Wikipedia etc.), </a:t>
            </a:r>
            <a:r>
              <a:rPr lang="en-US" dirty="0" err="1">
                <a:solidFill>
                  <a:schemeClr val="bg1"/>
                </a:solidFill>
              </a:rPr>
              <a:t>învățând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tipare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statistice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între</a:t>
            </a:r>
            <a:r>
              <a:rPr lang="en-US" dirty="0">
                <a:solidFill>
                  <a:schemeClr val="bg1"/>
                </a:solidFill>
              </a:rPr>
              <a:t> limbi </a:t>
            </a:r>
            <a:r>
              <a:rPr lang="en-US" dirty="0" err="1">
                <a:solidFill>
                  <a:schemeClr val="bg1"/>
                </a:solidFill>
              </a:rPr>
              <a:t>prin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ajustarea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peste</a:t>
            </a:r>
            <a:r>
              <a:rPr lang="en-US" dirty="0">
                <a:solidFill>
                  <a:schemeClr val="bg1"/>
                </a:solidFill>
              </a:rPr>
              <a:t> 418 </a:t>
            </a:r>
            <a:r>
              <a:rPr lang="en-US" dirty="0" err="1">
                <a:solidFill>
                  <a:schemeClr val="bg1"/>
                </a:solidFill>
              </a:rPr>
              <a:t>milioane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parametri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FE8425-C769-B4AA-C7AC-4A245ABE9D43}"/>
              </a:ext>
            </a:extLst>
          </p:cNvPr>
          <p:cNvSpPr txBox="1"/>
          <p:nvPr/>
        </p:nvSpPr>
        <p:spPr>
          <a:xfrm>
            <a:off x="-4505325" y="3707082"/>
            <a:ext cx="153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Performanță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E4C16-BB36-5C6B-086F-BCB9328C8D2A}"/>
              </a:ext>
            </a:extLst>
          </p:cNvPr>
          <p:cNvSpPr txBox="1"/>
          <p:nvPr/>
        </p:nvSpPr>
        <p:spPr>
          <a:xfrm>
            <a:off x="13851779" y="4076414"/>
            <a:ext cx="4955899" cy="21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</a:rPr>
              <a:t>M2M100 </a:t>
            </a:r>
            <a:r>
              <a:rPr lang="en-US" dirty="0" err="1">
                <a:solidFill>
                  <a:schemeClr val="bg1"/>
                </a:solidFill>
              </a:rPr>
              <a:t>este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eficient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deoarece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ro-RO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bg1"/>
                </a:solidFill>
              </a:rPr>
              <a:t>folosește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arhitectura</a:t>
            </a:r>
            <a:r>
              <a:rPr lang="en-US" dirty="0">
                <a:solidFill>
                  <a:schemeClr val="bg1"/>
                </a:solidFill>
              </a:rPr>
              <a:t> Transformer</a:t>
            </a:r>
            <a:endParaRPr lang="ro-RO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bg1"/>
                </a:solidFill>
              </a:rPr>
              <a:t>modelează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contextul</a:t>
            </a:r>
            <a:r>
              <a:rPr lang="en-US" dirty="0">
                <a:solidFill>
                  <a:schemeClr val="bg1"/>
                </a:solidFill>
              </a:rPr>
              <a:t> global al </a:t>
            </a:r>
            <a:r>
              <a:rPr lang="en-US" dirty="0" err="1">
                <a:solidFill>
                  <a:schemeClr val="bg1"/>
                </a:solidFill>
              </a:rPr>
              <a:t>propoziției</a:t>
            </a:r>
            <a:endParaRPr lang="ro-RO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bg1"/>
                </a:solidFill>
              </a:rPr>
              <a:t>este </a:t>
            </a:r>
            <a:r>
              <a:rPr lang="fr-FR" dirty="0" err="1">
                <a:solidFill>
                  <a:schemeClr val="bg1"/>
                </a:solidFill>
              </a:rPr>
              <a:t>antrenat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pe</a:t>
            </a:r>
            <a:r>
              <a:rPr lang="fr-FR" dirty="0">
                <a:solidFill>
                  <a:schemeClr val="bg1"/>
                </a:solidFill>
              </a:rPr>
              <a:t> volume </a:t>
            </a:r>
            <a:r>
              <a:rPr lang="fr-FR" dirty="0" err="1">
                <a:solidFill>
                  <a:schemeClr val="bg1"/>
                </a:solidFill>
              </a:rPr>
              <a:t>foarte</a:t>
            </a:r>
            <a:r>
              <a:rPr lang="fr-FR" dirty="0">
                <a:solidFill>
                  <a:schemeClr val="bg1"/>
                </a:solidFill>
              </a:rPr>
              <a:t> mari de date</a:t>
            </a:r>
            <a:endParaRPr lang="ro-RO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traduce direct </a:t>
            </a:r>
            <a:r>
              <a:rPr lang="en-US" dirty="0" err="1">
                <a:solidFill>
                  <a:schemeClr val="bg1"/>
                </a:solidFill>
              </a:rPr>
              <a:t>între</a:t>
            </a:r>
            <a:r>
              <a:rPr lang="en-US" dirty="0">
                <a:solidFill>
                  <a:schemeClr val="bg1"/>
                </a:solidFill>
              </a:rPr>
              <a:t> limbi, </a:t>
            </a:r>
            <a:r>
              <a:rPr lang="en-US" dirty="0" err="1">
                <a:solidFill>
                  <a:schemeClr val="bg1"/>
                </a:solidFill>
              </a:rPr>
              <a:t>fără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trece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engleză</a:t>
            </a: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D1BB8-D57F-525C-2E32-A9334E4C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630F52D-3361-1E0E-A7AA-7E0BCB832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628" y="336550"/>
            <a:ext cx="4250127" cy="540631"/>
          </a:xfrm>
        </p:spPr>
        <p:txBody>
          <a:bodyPr/>
          <a:lstStyle/>
          <a:p>
            <a:r>
              <a:rPr lang="en-US" noProof="0" dirty="0" err="1"/>
              <a:t>Performan</a:t>
            </a:r>
            <a:r>
              <a:rPr lang="ro-RO" dirty="0"/>
              <a:t>ță</a:t>
            </a:r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BDD526B2-3FB6-0DD6-B764-0F1F193013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3D13C-53C3-DE21-2B3D-FA5FDF90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ro-RO" noProof="0" smtClean="0"/>
              <a:pPr/>
              <a:t>13</a:t>
            </a:fld>
            <a:endParaRPr lang="ro-RO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DA0778-19B5-12DF-9C36-8C246B2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71475" y="942960"/>
            <a:ext cx="5322888" cy="807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B0377-3C02-9B93-1552-BDF0A3AEFD26}"/>
              </a:ext>
            </a:extLst>
          </p:cNvPr>
          <p:cNvSpPr txBox="1"/>
          <p:nvPr/>
        </p:nvSpPr>
        <p:spPr>
          <a:xfrm>
            <a:off x="371475" y="1262270"/>
            <a:ext cx="235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Corbel" panose="020B0503020204020204" pitchFamily="34" charset="0"/>
              </a:rPr>
              <a:t>Antrenarea</a:t>
            </a: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rbel" panose="020B0503020204020204" pitchFamily="34" charset="0"/>
              </a:rPr>
              <a:t>modelului</a:t>
            </a:r>
            <a:endParaRPr lang="ro-RO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07443-E195-2F17-6790-39FCD0E644E3}"/>
              </a:ext>
            </a:extLst>
          </p:cNvPr>
          <p:cNvSpPr txBox="1"/>
          <p:nvPr/>
        </p:nvSpPr>
        <p:spPr>
          <a:xfrm>
            <a:off x="371475" y="1755855"/>
            <a:ext cx="5322888" cy="1390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o-RO" dirty="0">
                <a:solidFill>
                  <a:schemeClr val="bg1"/>
                </a:solidFill>
                <a:latin typeface="Corbel" panose="020B0503020204020204" pitchFamily="34" charset="0"/>
              </a:rPr>
              <a:t>    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M2M100 a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antrenat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pe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miliarde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propoziții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traduse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din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surse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reale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(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documente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oficiale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, web, Wikipedia etc.),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învățând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tipare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statistice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între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limbi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prin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ajustarea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peste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418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milioane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parametri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.</a:t>
            </a:r>
            <a:endParaRPr lang="ro-RO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5B1B7-0F79-146D-23D4-F210EF672BD8}"/>
              </a:ext>
            </a:extLst>
          </p:cNvPr>
          <p:cNvSpPr txBox="1"/>
          <p:nvPr/>
        </p:nvSpPr>
        <p:spPr>
          <a:xfrm>
            <a:off x="371475" y="3613666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  <a:latin typeface="Corbel" panose="020B0503020204020204" pitchFamily="34" charset="0"/>
              </a:rPr>
              <a:t>Eficiență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679BB9-55D8-E194-A6A4-EFA8414DAE60}"/>
              </a:ext>
            </a:extLst>
          </p:cNvPr>
          <p:cNvSpPr txBox="1"/>
          <p:nvPr/>
        </p:nvSpPr>
        <p:spPr>
          <a:xfrm>
            <a:off x="371475" y="4158197"/>
            <a:ext cx="4955899" cy="21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M</a:t>
            </a:r>
            <a:r>
              <a:rPr lang="ro-RO" dirty="0">
                <a:solidFill>
                  <a:schemeClr val="bg1"/>
                </a:solidFill>
                <a:latin typeface="Corbel" panose="020B0503020204020204" pitchFamily="34" charset="0"/>
              </a:rPr>
              <a:t>odelul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este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eficient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deoarece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:</a:t>
            </a:r>
            <a:endParaRPr lang="ro-RO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folosește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arhitectura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Transformer</a:t>
            </a:r>
            <a:endParaRPr lang="ro-RO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modelează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contextul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global al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propoziției</a:t>
            </a:r>
            <a:endParaRPr lang="ro-RO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bg1"/>
                </a:solidFill>
                <a:latin typeface="Corbel" panose="020B0503020204020204" pitchFamily="34" charset="0"/>
              </a:rPr>
              <a:t>este </a:t>
            </a:r>
            <a:r>
              <a:rPr lang="fr-FR" dirty="0" err="1">
                <a:solidFill>
                  <a:schemeClr val="bg1"/>
                </a:solidFill>
                <a:latin typeface="Corbel" panose="020B0503020204020204" pitchFamily="34" charset="0"/>
              </a:rPr>
              <a:t>antrenat</a:t>
            </a:r>
            <a:r>
              <a:rPr lang="fr-FR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Corbel" panose="020B0503020204020204" pitchFamily="34" charset="0"/>
              </a:rPr>
              <a:t>pe</a:t>
            </a:r>
            <a:r>
              <a:rPr lang="fr-FR" dirty="0">
                <a:solidFill>
                  <a:schemeClr val="bg1"/>
                </a:solidFill>
                <a:latin typeface="Corbel" panose="020B0503020204020204" pitchFamily="34" charset="0"/>
              </a:rPr>
              <a:t> volume </a:t>
            </a:r>
            <a:r>
              <a:rPr lang="fr-FR" dirty="0" err="1">
                <a:solidFill>
                  <a:schemeClr val="bg1"/>
                </a:solidFill>
                <a:latin typeface="Corbel" panose="020B0503020204020204" pitchFamily="34" charset="0"/>
              </a:rPr>
              <a:t>foarte</a:t>
            </a:r>
            <a:r>
              <a:rPr lang="fr-FR" dirty="0">
                <a:solidFill>
                  <a:schemeClr val="bg1"/>
                </a:solidFill>
                <a:latin typeface="Corbel" panose="020B0503020204020204" pitchFamily="34" charset="0"/>
              </a:rPr>
              <a:t> mari de date</a:t>
            </a:r>
            <a:endParaRPr lang="ro-RO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traduce direct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între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limbi,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fără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trece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prin</a:t>
            </a:r>
            <a:r>
              <a:rPr lang="en-US" dirty="0">
                <a:solidFill>
                  <a:schemeClr val="bg1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rbel" panose="020B0503020204020204" pitchFamily="34" charset="0"/>
              </a:rPr>
              <a:t>engleză</a:t>
            </a:r>
            <a:endParaRPr lang="ro-RO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241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7" y="3001412"/>
            <a:ext cx="6327105" cy="855176"/>
          </a:xfrm>
        </p:spPr>
        <p:txBody>
          <a:bodyPr anchor="b"/>
          <a:lstStyle/>
          <a:p>
            <a:r>
              <a:rPr lang="ro-RO" sz="5400" noProof="0" dirty="0"/>
              <a:t>MULȚUMIM!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1098AD-25FA-4DAE-AD39-9BF749F1B93A}">
  <we:reference id="4b785c87-866c-4bad-85d8-5d1ae467ac9a" version="3.20.1.0" store="EXCatalog" storeType="EXCatalog"/>
  <we:alternateReferences>
    <we:reference id="WA104381909" version="3.20.1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{C9AAA407-5F66-4B73-A127-8CF18A550DF6}TFe8699e8e-689b-4d7e-abcf-e888fd749829db3118dc_win32-d573b439b56f</Template>
  <TotalTime>133</TotalTime>
  <Words>877</Words>
  <Application>Microsoft Office PowerPoint</Application>
  <PresentationFormat>Widescreen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Nova</vt:lpstr>
      <vt:lpstr>Biome</vt:lpstr>
      <vt:lpstr>Calibri</vt:lpstr>
      <vt:lpstr>Corbel</vt:lpstr>
      <vt:lpstr>Wingdings</vt:lpstr>
      <vt:lpstr>Custom</vt:lpstr>
      <vt:lpstr>Aplicație traducere</vt:lpstr>
      <vt:lpstr>Tehnologii Utilizate</vt:lpstr>
      <vt:lpstr>Tehnologii Utilizate</vt:lpstr>
      <vt:lpstr>PowerPoint Presentation</vt:lpstr>
      <vt:lpstr>PowerPoint Presentation</vt:lpstr>
      <vt:lpstr>Modelul folosit</vt:lpstr>
      <vt:lpstr>Modelul folosit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MULȚUMIM!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Darius Ionut Matei</dc:creator>
  <cp:lastModifiedBy>Paul Stefan Lupse</cp:lastModifiedBy>
  <cp:revision>5</cp:revision>
  <dcterms:created xsi:type="dcterms:W3CDTF">2026-01-20T17:49:35Z</dcterms:created>
  <dcterms:modified xsi:type="dcterms:W3CDTF">2026-01-21T19:54:40Z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2026-01-20T20:18:33Z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844bb132-a68f-445a-abda-5a579cae3f7d</vt:lpwstr>
  </property>
  <property fmtid="{D5CDD505-2E9C-101B-9397-08002B2CF9AE}" pid="9" name="MSIP_Label_5b58b62f-6f94-46bd-8089-18e64b0a9abb_ContentBits">
    <vt:lpwstr>0</vt:lpwstr>
  </property>
  <property fmtid="{D5CDD505-2E9C-101B-9397-08002B2CF9AE}" pid="10" name="MSIP_Label_5b58b62f-6f94-46bd-8089-18e64b0a9abb_Tag">
    <vt:lpwstr>10, 3, 0, 1</vt:lpwstr>
  </property>
</Properties>
</file>