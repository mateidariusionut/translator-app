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342" r:id="rId5"/>
    <p:sldId id="359" r:id="rId6"/>
    <p:sldId id="385" r:id="rId7"/>
    <p:sldId id="373" r:id="rId8"/>
    <p:sldId id="384" r:id="rId9"/>
    <p:sldId id="375" r:id="rId10"/>
    <p:sldId id="386" r:id="rId11"/>
    <p:sldId id="387" r:id="rId12"/>
    <p:sldId id="382" r:id="rId13"/>
    <p:sldId id="383" r:id="rId14"/>
    <p:sldId id="388" r:id="rId15"/>
    <p:sldId id="374" r:id="rId16"/>
    <p:sldId id="389" r:id="rId17"/>
    <p:sldId id="3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 snapToObjects="1" showGuides="1">
      <p:cViewPr>
        <p:scale>
          <a:sx n="50" d="100"/>
          <a:sy n="50" d="100"/>
        </p:scale>
        <p:origin x="1842" y="12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8BFD57-AB0A-470B-A7AF-56DFE7B5174A}" type="datetimeFigureOut">
              <a:rPr lang="en-US" smtClean="0"/>
              <a:t>1/21/2026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61A1-75D9-49F7-83EB-F587264261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3339F-6CEA-4641-BE08-40DAFD6FCF25}" type="datetimeFigureOut">
              <a:rPr lang="en-US" smtClean="0"/>
              <a:t>1/21/2026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75CB5-5666-5049-9AE0-38EFD385C21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999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673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4C481-0CC8-06AB-4611-ABA3B17C9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7255BC-6453-9BA9-84C8-95D848618E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E103E4-35D4-EE41-B6FE-6160A0149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7D9BD-23E8-BE31-8080-99353EC83E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04641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1641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654A-759F-04E2-BD69-2D8A9474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E16D6-3703-F264-E600-662B7E53C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456D7D-A17F-70AD-AE39-1CE663DC0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FAC5DE-419D-1231-3039-96585DEE29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552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224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C1C74-7DE3-855C-DB06-F1870EB98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B63ADC-6729-F291-BB01-978FCFFD65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DC2875-D949-B4F6-DA3B-2AA948D71C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E3221-8895-DCAB-8ED7-4110E232D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711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5F062-7CB0-57A7-23B7-5B3AADA74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FF7E7-98B3-EA31-C6AC-EC1FCF8A6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01632A-8F55-73C4-9AF0-B67E5EFBB3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1D49C-CF8A-F885-0D27-3EC4F7AFBE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6050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8AD08-E370-E810-A601-B6460459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C9A51D-F1A6-BBB6-843B-3DEE675F1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690FE4-4B88-5B6C-2093-1629BCD5A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9FEFE-DD48-FD2B-A6E9-02FF570D4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95200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035AF-30E4-AA23-BE8E-4D7D22F0E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7A5D7F-EDB5-FDA6-8C66-3B1EAA158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FDBEC6-D9E1-6B18-4E11-61419130F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DA268-15A7-DE2B-9ADC-88BB89CB5D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77895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0CDA3-7BAD-30F6-FA46-1DC0127F8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D0F8DA-966B-4318-88DF-A3009F1A1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695753-B1E9-CA21-6AB7-19F13C0696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7D9BF6-5611-A473-0740-C05C2B04A9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61463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0729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3DD6E-B9E9-2419-E257-C21B8CE66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820A0-80CC-B9DF-F3DD-9D50895CA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83515F-4559-D4D9-2EFE-BAE753944B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E54B0-41CB-C6C2-EDD3-45B9378580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3053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5012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04799"/>
            <a:ext cx="12191998" cy="3215641"/>
          </a:xfrm>
        </p:spPr>
        <p:txBody>
          <a:bodyPr lIns="0" rIns="0" bIns="0" anchor="b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670628"/>
            <a:ext cx="12191997" cy="2577772"/>
          </a:xfrm>
        </p:spPr>
        <p:txBody>
          <a:bodyPr>
            <a:noAutofit/>
          </a:bodyPr>
          <a:lstStyle>
            <a:lvl1pPr marL="0" indent="0" algn="ctr">
              <a:buNone/>
              <a:defRPr sz="3200" b="0" i="0" cap="all" spc="600" baseline="0">
                <a:solidFill>
                  <a:schemeClr val="accent3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4119321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anchor="ctr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Content Placeholder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Graphic 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anchor="b"/>
          <a:lstStyle>
            <a:lvl1pPr>
              <a:defRPr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9040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B5B81B-FCE8-FE9C-8F0A-6488B25F0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1869" y="579120"/>
            <a:ext cx="11548261" cy="2733306"/>
          </a:xfrm>
        </p:spPr>
        <p:txBody>
          <a:bodyPr anchor="b">
            <a:noAutofit/>
          </a:bodyPr>
          <a:lstStyle>
            <a:lvl1pPr algn="ctr">
              <a:defRPr sz="32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F877C2F-8190-18D9-5D24-5BD7B05A29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1868" y="3484615"/>
            <a:ext cx="11562303" cy="2387865"/>
          </a:xfrm>
        </p:spPr>
        <p:txBody>
          <a:bodyPr>
            <a:noAutofit/>
          </a:bodyPr>
          <a:lstStyle>
            <a:lvl1pPr marL="0" indent="0" algn="ctr">
              <a:buNone/>
              <a:defRPr sz="60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659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664209F-41AB-70E5-1B9E-7490900C5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" y="1"/>
            <a:ext cx="12191997" cy="6857998"/>
          </a:xfrm>
          <a:prstGeom prst="rect">
            <a:avLst/>
          </a:prstGeom>
          <a:gradFill flip="none" rotWithShape="1">
            <a:gsLst>
              <a:gs pos="0">
                <a:srgbClr val="1A012C"/>
              </a:gs>
              <a:gs pos="45000">
                <a:srgbClr val="1A012C">
                  <a:alpha val="50000"/>
                </a:srgbClr>
              </a:gs>
              <a:gs pos="100000">
                <a:schemeClr val="accent6">
                  <a:lumMod val="50000"/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D3409-585B-54E2-1DCC-AC58804E4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6350"/>
            <a:ext cx="6096000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9891" y="511762"/>
            <a:ext cx="4960830" cy="2785158"/>
          </a:xfrm>
        </p:spPr>
        <p:txBody>
          <a:bodyPr anchor="b">
            <a:noAutofit/>
          </a:bodyPr>
          <a:lstStyle>
            <a:lvl1pPr algn="l">
              <a:defRPr sz="24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47B8A5C-E279-DB0B-E9D3-9274178761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2640" y="3484615"/>
            <a:ext cx="4958081" cy="2387865"/>
          </a:xfrm>
        </p:spPr>
        <p:txBody>
          <a:bodyPr>
            <a:noAutofit/>
          </a:bodyPr>
          <a:lstStyle>
            <a:lvl1pPr marL="0" indent="0" algn="l">
              <a:buNone/>
              <a:defRPr sz="32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86C402-C5C5-2A54-C618-62673AD93CB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7638" y="336550"/>
            <a:ext cx="5322887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218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2 column">
    <p:bg>
      <p:bgPr>
        <a:gradFill>
          <a:gsLst>
            <a:gs pos="100000">
              <a:schemeClr val="tx2"/>
            </a:gs>
            <a:gs pos="79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14">
            <a:extLst>
              <a:ext uri="{FF2B5EF4-FFF2-40B4-BE49-F238E27FC236}">
                <a16:creationId xmlns:a16="http://schemas.microsoft.com/office/drawing/2014/main" id="{318CE367-BBCB-F4AB-635F-4C9995EA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6350"/>
            <a:ext cx="2356339" cy="685386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E3FBBA-81E2-31F1-EF51-02706B5B5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339" y="-6350"/>
            <a:ext cx="983180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D3746D-3CD1-FFA5-0019-AD0C588B1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5669" y="2002443"/>
            <a:ext cx="792211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05669" y="113097"/>
            <a:ext cx="7420819" cy="16563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9624CF4-7769-4663-3361-39136F5E20C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305669" y="2470150"/>
            <a:ext cx="7420819" cy="3676649"/>
          </a:xfr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+mn-lt"/>
              </a:defRPr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+mn-lt"/>
              </a:defRPr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3pPr>
            <a:lvl4pPr marL="16573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26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361F2FA-20C7-5447-C138-CE2CA186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" y="2"/>
            <a:ext cx="12191997" cy="6857998"/>
            <a:chOff x="3" y="2"/>
            <a:chExt cx="12191997" cy="685799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EDD626-82E4-71C6-25F1-CDA46B7B3F39}"/>
                </a:ext>
              </a:extLst>
            </p:cNvPr>
            <p:cNvSpPr/>
            <p:nvPr/>
          </p:nvSpPr>
          <p:spPr>
            <a:xfrm>
              <a:off x="3" y="2"/>
              <a:ext cx="12191997" cy="6857998"/>
            </a:xfrm>
            <a:prstGeom prst="rect">
              <a:avLst/>
            </a:prstGeom>
            <a:gradFill flip="none" rotWithShape="1">
              <a:gsLst>
                <a:gs pos="0">
                  <a:srgbClr val="1A012C"/>
                </a:gs>
                <a:gs pos="45000">
                  <a:srgbClr val="1A012C">
                    <a:alpha val="50000"/>
                  </a:srgbClr>
                </a:gs>
                <a:gs pos="100000">
                  <a:schemeClr val="accent6">
                    <a:lumMod val="5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DC952AF-CE06-54F7-CB4A-1722F90A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" y="2"/>
              <a:ext cx="12191994" cy="685799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E6EDFF3-843B-AAE9-DB73-423142606F52}"/>
                </a:ext>
              </a:extLst>
            </p:cNvPr>
            <p:cNvGrpSpPr/>
            <p:nvPr/>
          </p:nvGrpSpPr>
          <p:grpSpPr>
            <a:xfrm rot="5400000">
              <a:off x="1645776" y="1222395"/>
              <a:ext cx="431603" cy="412684"/>
              <a:chOff x="1870859" y="869908"/>
              <a:chExt cx="431603" cy="412684"/>
            </a:xfrm>
          </p:grpSpPr>
          <p:sp>
            <p:nvSpPr>
              <p:cNvPr id="12" name="Graphic 15">
                <a:extLst>
                  <a:ext uri="{FF2B5EF4-FFF2-40B4-BE49-F238E27FC236}">
                    <a16:creationId xmlns:a16="http://schemas.microsoft.com/office/drawing/2014/main" id="{312F4F85-6C79-201D-E20D-64CD4728E4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01D71DAD-ECC6-A850-88E4-A4EDCF494A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632CC6D-6024-2368-8EBA-4B7A2D6428BC}"/>
                </a:ext>
              </a:extLst>
            </p:cNvPr>
            <p:cNvGrpSpPr/>
            <p:nvPr/>
          </p:nvGrpSpPr>
          <p:grpSpPr>
            <a:xfrm rot="20626702">
              <a:off x="10248169" y="5448942"/>
              <a:ext cx="431603" cy="412684"/>
              <a:chOff x="1870859" y="869908"/>
              <a:chExt cx="431603" cy="412684"/>
            </a:xfrm>
          </p:grpSpPr>
          <p:sp>
            <p:nvSpPr>
              <p:cNvPr id="6" name="Graphic 15">
                <a:extLst>
                  <a:ext uri="{FF2B5EF4-FFF2-40B4-BE49-F238E27FC236}">
                    <a16:creationId xmlns:a16="http://schemas.microsoft.com/office/drawing/2014/main" id="{B05BE7BE-7D54-A09B-8A67-6B28CF6BB6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7" name="Graphic 12">
                <a:extLst>
                  <a:ext uri="{FF2B5EF4-FFF2-40B4-BE49-F238E27FC236}">
                    <a16:creationId xmlns:a16="http://schemas.microsoft.com/office/drawing/2014/main" id="{258346A9-F75C-6704-EEED-CF7A8A0F8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2CC39D-03B1-4933-F236-462B586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anchor="b"/>
          <a:lstStyle>
            <a:lvl1pPr algn="ctr">
              <a:defRPr sz="3200" cap="all" spc="6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711CA51-49DC-62CA-F147-F286B1C9DB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32448" y="3962135"/>
            <a:ext cx="6327105" cy="2653771"/>
          </a:xfrm>
        </p:spPr>
        <p:txBody>
          <a:bodyPr>
            <a:noAutofit/>
          </a:bodyPr>
          <a:lstStyle>
            <a:lvl1pPr marL="0" indent="0" algn="ctr">
              <a:buNone/>
              <a:defRPr sz="1800" b="0" i="0" cap="all" spc="300" baseline="0">
                <a:solidFill>
                  <a:schemeClr val="bg1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1183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D5518-914C-92E3-E9EC-26752C9F0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" y="-6350"/>
            <a:ext cx="12192000" cy="6864350"/>
            <a:chOff x="-1" y="-6350"/>
            <a:chExt cx="12192000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D0B82-F74C-65EF-3BF6-8EEA16F36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8750" y="-6350"/>
              <a:ext cx="10763249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Picture 5" descr="A blue and purple spiral&#10;&#10;Description automatically generated">
              <a:extLst>
                <a:ext uri="{FF2B5EF4-FFF2-40B4-BE49-F238E27FC236}">
                  <a16:creationId xmlns:a16="http://schemas.microsoft.com/office/drawing/2014/main" id="{44E12326-9CF4-38EC-1BAF-1F994F2208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93"/>
            <a:stretch/>
          </p:blipFill>
          <p:spPr>
            <a:xfrm flipH="1">
              <a:off x="-1" y="0"/>
              <a:ext cx="1428751" cy="68580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D5C1D9C-B114-FC6A-9213-7287D39EAD9F}"/>
                </a:ext>
              </a:extLst>
            </p:cNvPr>
            <p:cNvGrpSpPr/>
            <p:nvPr/>
          </p:nvGrpSpPr>
          <p:grpSpPr>
            <a:xfrm>
              <a:off x="10649689" y="4382998"/>
              <a:ext cx="754139" cy="1865729"/>
              <a:chOff x="653351" y="2693558"/>
              <a:chExt cx="754139" cy="1865729"/>
            </a:xfrm>
          </p:grpSpPr>
          <p:sp>
            <p:nvSpPr>
              <p:cNvPr id="11" name="Graphic 15">
                <a:extLst>
                  <a:ext uri="{FF2B5EF4-FFF2-40B4-BE49-F238E27FC236}">
                    <a16:creationId xmlns:a16="http://schemas.microsoft.com/office/drawing/2014/main" id="{2BC89B10-C93E-8CE5-73B3-F6049168C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98137" y="2693558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2" name="Graphic 12">
                <a:extLst>
                  <a:ext uri="{FF2B5EF4-FFF2-40B4-BE49-F238E27FC236}">
                    <a16:creationId xmlns:a16="http://schemas.microsoft.com/office/drawing/2014/main" id="{39DB2AA2-9661-AC91-932D-2F1BEC47BD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306906" y="3837599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86C9AC9B-3792-E880-03FE-D46FB046A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351" y="4521502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142A133-65D6-D958-C0CD-E8D45B9BD7BB}"/>
                </a:ext>
              </a:extLst>
            </p:cNvPr>
            <p:cNvGrpSpPr/>
            <p:nvPr/>
          </p:nvGrpSpPr>
          <p:grpSpPr>
            <a:xfrm>
              <a:off x="1870859" y="869908"/>
              <a:ext cx="431603" cy="412684"/>
              <a:chOff x="1870859" y="869908"/>
              <a:chExt cx="431603" cy="412684"/>
            </a:xfrm>
          </p:grpSpPr>
          <p:sp>
            <p:nvSpPr>
              <p:cNvPr id="9" name="Graphic 15">
                <a:extLst>
                  <a:ext uri="{FF2B5EF4-FFF2-40B4-BE49-F238E27FC236}">
                    <a16:creationId xmlns:a16="http://schemas.microsoft.com/office/drawing/2014/main" id="{A746B023-387D-4EAC-052B-60F131E6E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0" name="Graphic 12">
                <a:extLst>
                  <a:ext uri="{FF2B5EF4-FFF2-40B4-BE49-F238E27FC236}">
                    <a16:creationId xmlns:a16="http://schemas.microsoft.com/office/drawing/2014/main" id="{20760125-21CF-A296-3EA7-3C6C0E9BCB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851D11-41E3-33F2-CBA6-B2A9A5A2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69139" y="2002443"/>
            <a:ext cx="88735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9620" y="162560"/>
            <a:ext cx="8843050" cy="16169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2373002" y="2474811"/>
            <a:ext cx="4015098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D77F99A7-26FA-422E-43E9-C76B4A56E44A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995159" y="2474811"/>
            <a:ext cx="4227332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82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Graphic 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Graphic 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Graphic 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927600" y="2465539"/>
            <a:ext cx="6315069" cy="372375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22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23B0D0-B01D-0BB0-6127-A878BE49D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39728" y="-6350"/>
            <a:ext cx="6154615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9627" y="173736"/>
            <a:ext cx="4352662" cy="220370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C363351-4779-B42E-ED7A-C4AF2920BABC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36550" y="336550"/>
            <a:ext cx="5303640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9627" y="3104277"/>
            <a:ext cx="4371560" cy="3022201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712911-615E-724B-FC0F-996291526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89627" y="2679480"/>
            <a:ext cx="4352662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082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FFF0E2-6B47-67EB-D6AA-D972E7B7C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6350"/>
            <a:ext cx="464695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4827F6F-999F-23E9-8C09-325D1A76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80134"/>
            <a:ext cx="3114078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171396"/>
            <a:ext cx="3736630" cy="2202350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41716" y="3078480"/>
            <a:ext cx="3108193" cy="30479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D360C16C-E69B-FDEF-F033-CA9A2E238288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7300" y="404813"/>
            <a:ext cx="6705600" cy="6048375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907219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96A82D-0723-4BA3-0283-9F0D67B0C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A20A5FD-BDFB-45F2-E644-E93FB81CA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416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562" y="433906"/>
            <a:ext cx="10515601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14302" y="2465535"/>
            <a:ext cx="7303538" cy="3427265"/>
          </a:xfrm>
        </p:spPr>
        <p:txBody>
          <a:bodyPr/>
          <a:lstStyle>
            <a:lvl1pPr marL="283464" indent="-283464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2pPr>
            <a:lvl3pPr marL="859536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3pPr>
            <a:lvl4pPr marL="115214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E7FC75E-AA73-003E-D4E3-B1819886AF9C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392160" y="2465388"/>
            <a:ext cx="2856865" cy="3427412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600">
                <a:solidFill>
                  <a:schemeClr val="bg1"/>
                </a:solidFill>
                <a:latin typeface="+mn-lt"/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11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D51531-1219-2E4B-DCE7-C6FD9D809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EC02E56-87A4-158A-F0B0-DB8E9BE3A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91547"/>
            <a:ext cx="10546763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643842"/>
            <a:ext cx="10515601" cy="1140849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471D7DE3-05F5-8052-02FA-6EF9717E15B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5025" y="2560638"/>
            <a:ext cx="10515600" cy="3478212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68DE94-FC46-A848-7949-ABFEADAD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89F5C3D-E9E6-75E0-BF7D-799B5CFE5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7"/>
            <a:ext cx="7616537" cy="6853863"/>
            <a:chOff x="4575462" y="4137"/>
            <a:chExt cx="7616537" cy="68538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DE1D2C2-40C4-6B80-E8C6-B4CE94C23037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C904D88-E1BE-F1FA-D405-F55DA966DA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Graphic 12">
                <a:extLst>
                  <a:ext uri="{FF2B5EF4-FFF2-40B4-BE49-F238E27FC236}">
                    <a16:creationId xmlns:a16="http://schemas.microsoft.com/office/drawing/2014/main" id="{1D8F0816-C429-D32E-058B-33405874DF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pic>
          <p:nvPicPr>
            <p:cNvPr id="4" name="Content Placeholder 14">
              <a:extLst>
                <a:ext uri="{FF2B5EF4-FFF2-40B4-BE49-F238E27FC236}">
                  <a16:creationId xmlns:a16="http://schemas.microsoft.com/office/drawing/2014/main" id="{14AC0A97-7D79-3DBE-FB53-A9EBFD806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7"/>
              <a:ext cx="5649203" cy="6853863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831" y="173735"/>
            <a:ext cx="4409514" cy="2203704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D9D0F3E-69D8-49F3-5D7A-71FDC4E3EE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1850" y="3079119"/>
            <a:ext cx="4413250" cy="2752725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CFC792-44F7-2497-E19D-8FB08AFF9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79192"/>
            <a:ext cx="4101929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99000">
              <a:srgbClr val="0520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79" r:id="rId2"/>
    <p:sldLayoutId id="2147483669" r:id="rId3"/>
    <p:sldLayoutId id="2147483672" r:id="rId4"/>
    <p:sldLayoutId id="2147483673" r:id="rId5"/>
    <p:sldLayoutId id="2147483674" r:id="rId6"/>
    <p:sldLayoutId id="2147483671" r:id="rId7"/>
    <p:sldLayoutId id="2147483675" r:id="rId8"/>
    <p:sldLayoutId id="2147483676" r:id="rId9"/>
    <p:sldLayoutId id="2147483670" r:id="rId10"/>
    <p:sldLayoutId id="2147483677" r:id="rId11"/>
    <p:sldLayoutId id="2147483678" r:id="rId12"/>
    <p:sldLayoutId id="2147483664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300" baseline="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97874EA-2F67-60CD-631F-5A787057F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799"/>
            <a:ext cx="12191998" cy="3215641"/>
          </a:xfrm>
        </p:spPr>
        <p:txBody>
          <a:bodyPr anchor="b"/>
          <a:lstStyle/>
          <a:p>
            <a:r>
              <a:rPr lang="ro-RO" sz="4800" noProof="0" dirty="0"/>
              <a:t>Aplicație traducere</a:t>
            </a:r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2981AB9E-AF0F-CAD0-2DD2-D640FB871E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" y="3670628"/>
            <a:ext cx="12191997" cy="2577772"/>
          </a:xfrm>
        </p:spPr>
        <p:txBody>
          <a:bodyPr/>
          <a:lstStyle/>
          <a:p>
            <a:r>
              <a:rPr lang="ro-RO" sz="2000" noProof="0" dirty="0"/>
              <a:t>Lupșe Paul-Ștefan</a:t>
            </a:r>
          </a:p>
          <a:p>
            <a:r>
              <a:rPr lang="ro-RO" sz="2000" noProof="0" dirty="0"/>
              <a:t>Matei Darius-Ionuț</a:t>
            </a:r>
          </a:p>
        </p:txBody>
      </p:sp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2458FF-0D0C-4ACC-C6FB-103BC0BAD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800599" y="368300"/>
            <a:ext cx="4466502" cy="1936866"/>
          </a:xfrm>
        </p:spPr>
        <p:txBody>
          <a:bodyPr/>
          <a:lstStyle/>
          <a:p>
            <a:r>
              <a:rPr lang="ro-RO" noProof="0" dirty="0"/>
              <a:t>Tehnologii Utilizate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1239C0E-3F39-787D-0FC3-6B7C9BA37E8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-4800599" y="2850241"/>
            <a:ext cx="4466504" cy="3405187"/>
          </a:xfrm>
        </p:spPr>
        <p:txBody>
          <a:bodyPr anchor="t"/>
          <a:lstStyle/>
          <a:p>
            <a:r>
              <a:rPr lang="ro-RO" sz="2000" noProof="0" dirty="0">
                <a:latin typeface="Corbel" panose="020B0503020204020204" pitchFamily="34" charset="0"/>
              </a:rPr>
              <a:t>Proiectul a fost realizat în mediul de programare PyCharm și în proiect sunt incluse următoarele tehnologii: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Python 3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Pytorch pentru rularea modelului AI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Model AI M2M100_418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Biblioteca Tkinter pentru interfață</a:t>
            </a:r>
          </a:p>
          <a:p>
            <a:endParaRPr lang="ro-RO" sz="2000" noProof="0" dirty="0">
              <a:latin typeface="Corbel" panose="020B0503020204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BE74E2-B6D9-5734-E1E2-20368A2C13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5626" y="-1875747"/>
            <a:ext cx="2285238" cy="566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6B7747-8000-41C4-31BD-49146CB5E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769338">
            <a:off x="6914656" y="-5229210"/>
            <a:ext cx="2381250" cy="523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251F0E4-76D5-A41C-319D-E69288B229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116353">
            <a:off x="9900986" y="-6961162"/>
            <a:ext cx="1684577" cy="12623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878C85-D838-38F0-14BB-096B88DD95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145969">
            <a:off x="7239724" y="-11087569"/>
            <a:ext cx="1467993" cy="146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593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D5A75E-BCCD-79CC-131B-9DBFA78AD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E75F36E-5DE4-6D36-FC84-975B32300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/>
          <a:lstStyle/>
          <a:p>
            <a:r>
              <a:rPr lang="ro-RO" noProof="0" dirty="0"/>
              <a:t>Tehnologii Utilizate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39B9913A-36CD-52B7-B30D-346CF27BD73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2853416"/>
            <a:ext cx="4466504" cy="3405187"/>
          </a:xfrm>
        </p:spPr>
        <p:txBody>
          <a:bodyPr anchor="t"/>
          <a:lstStyle/>
          <a:p>
            <a:r>
              <a:rPr lang="ro-RO" sz="2000" noProof="0" dirty="0">
                <a:latin typeface="Corbel" panose="020B0503020204020204" pitchFamily="34" charset="0"/>
              </a:rPr>
              <a:t>Proiectul a fost realizat în mediul de programare PyCharm și în proiect sunt incluse următoarele tehnologii: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Python 3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Pytorch pentru rularea modelului AI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Model AI M2M100_418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Biblioteca Tkinter pentru interfață</a:t>
            </a:r>
          </a:p>
          <a:p>
            <a:endParaRPr lang="ro-RO" sz="2000" noProof="0" dirty="0">
              <a:latin typeface="Corbel" panose="020B0503020204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D823D6-B278-9C9C-7B89-900873E46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45969">
            <a:off x="7239724" y="1333558"/>
            <a:ext cx="1467993" cy="14679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8050F20-F429-B2A0-9218-E03839C3D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5626" y="6258603"/>
            <a:ext cx="2285238" cy="566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48616B0-875B-4ADE-A380-6037FFBCC2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769338">
            <a:off x="6914657" y="4568981"/>
            <a:ext cx="2381250" cy="5238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25765C-E5B4-815B-DA7C-BB86CC19D5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116353">
            <a:off x="9900987" y="2922382"/>
            <a:ext cx="1684577" cy="1262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1038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260D053B-A40A-3228-B6D5-3371B9EE2E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13881823">
            <a:off x="-8062629" y="6651857"/>
            <a:ext cx="11562303" cy="701040"/>
          </a:xfrm>
        </p:spPr>
        <p:txBody>
          <a:bodyPr/>
          <a:lstStyle/>
          <a:p>
            <a:r>
              <a:rPr lang="ro-RO" sz="4400" noProof="0" dirty="0"/>
              <a:t>Cerințe de rulare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A971A9-0C5C-DDFC-67F9-2E5A55F12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ro-RO" noProof="0" smtClean="0"/>
              <a:pPr/>
              <a:t>4</a:t>
            </a:fld>
            <a:endParaRPr lang="ro-RO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A7EE96-0A91-5E16-FDE8-B457FC49AF52}"/>
              </a:ext>
            </a:extLst>
          </p:cNvPr>
          <p:cNvSpPr txBox="1"/>
          <p:nvPr/>
        </p:nvSpPr>
        <p:spPr>
          <a:xfrm rot="7661029">
            <a:off x="12562952" y="-2291774"/>
            <a:ext cx="3801041" cy="227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CPU: Intel i5 generația 4</a:t>
            </a:r>
          </a:p>
          <a:p>
            <a:pPr>
              <a:lnSpc>
                <a:spcPct val="120000"/>
              </a:lnSpc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RAM: minim 4 GB</a:t>
            </a:r>
            <a:b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</a:b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GPU: nu e necesar</a:t>
            </a:r>
            <a:b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</a:b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HDD/SSD: 1 GB liber</a:t>
            </a:r>
          </a:p>
          <a:p>
            <a:pPr>
              <a:lnSpc>
                <a:spcPct val="120000"/>
              </a:lnSpc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Conexiune la internet stabilă</a:t>
            </a:r>
          </a:p>
        </p:txBody>
      </p:sp>
      <p:sp>
        <p:nvSpPr>
          <p:cNvPr id="8" name="Subtitle 3">
            <a:extLst>
              <a:ext uri="{FF2B5EF4-FFF2-40B4-BE49-F238E27FC236}">
                <a16:creationId xmlns:a16="http://schemas.microsoft.com/office/drawing/2014/main" id="{8178596E-0C00-97E9-57FC-0BDFA5DF688B}"/>
              </a:ext>
            </a:extLst>
          </p:cNvPr>
          <p:cNvSpPr txBox="1">
            <a:spLocks/>
          </p:cNvSpPr>
          <p:nvPr/>
        </p:nvSpPr>
        <p:spPr>
          <a:xfrm rot="7700195">
            <a:off x="13383149" y="16955692"/>
            <a:ext cx="11562303" cy="7010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6000" b="0" i="0" kern="120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o-RO" sz="2800" noProof="0" dirty="0"/>
              <a:t>Mod de Utilizare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6400A3-6993-BB03-B576-962AA75725DA}"/>
              </a:ext>
            </a:extLst>
          </p:cNvPr>
          <p:cNvSpPr txBox="1"/>
          <p:nvPr/>
        </p:nvSpPr>
        <p:spPr>
          <a:xfrm rot="11329741">
            <a:off x="793080" y="15336071"/>
            <a:ext cx="8562479" cy="18355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Cel mai ușor mod de rulare este prin rularea executabilului.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Utilizatorii mai avansați pot opta pentru rularea manuală a codului sursă prin intermediul unui emulator de terminal, de exemplu (CMD, PowerShell, Bash etc.). </a:t>
            </a:r>
          </a:p>
        </p:txBody>
      </p:sp>
    </p:spTree>
    <p:extLst>
      <p:ext uri="{BB962C8B-B14F-4D97-AF65-F5344CB8AC3E}">
        <p14:creationId xmlns:p14="http://schemas.microsoft.com/office/powerpoint/2010/main" val="13971937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13EDC-60B7-5FE3-C437-4CDC3C242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3B903D4C-1561-0FBE-210B-B43514C31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869" y="579121"/>
            <a:ext cx="11562303" cy="701040"/>
          </a:xfrm>
        </p:spPr>
        <p:txBody>
          <a:bodyPr/>
          <a:lstStyle/>
          <a:p>
            <a:r>
              <a:rPr lang="ro-RO" sz="4400" noProof="0" dirty="0"/>
              <a:t>Cerințe de rulare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2146C4-9E97-B0AA-0E21-9D686D9B8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ro-RO" noProof="0" smtClean="0"/>
              <a:pPr/>
              <a:t>5</a:t>
            </a:fld>
            <a:endParaRPr lang="ro-RO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98EBDA-7C65-0B06-3158-F66F0586DF85}"/>
              </a:ext>
            </a:extLst>
          </p:cNvPr>
          <p:cNvSpPr txBox="1"/>
          <p:nvPr/>
        </p:nvSpPr>
        <p:spPr>
          <a:xfrm>
            <a:off x="4085703" y="1270576"/>
            <a:ext cx="3801041" cy="227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CPU: Intel i5 generația 4</a:t>
            </a:r>
          </a:p>
          <a:p>
            <a:pPr>
              <a:lnSpc>
                <a:spcPct val="120000"/>
              </a:lnSpc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RAM: minim 4 GB</a:t>
            </a:r>
            <a:b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</a:b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GPU: nu e necesar</a:t>
            </a:r>
            <a:b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</a:b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HDD/SSD: 1 GB liber</a:t>
            </a:r>
          </a:p>
          <a:p>
            <a:pPr>
              <a:lnSpc>
                <a:spcPct val="120000"/>
              </a:lnSpc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Conexiune la internet stabilă</a:t>
            </a:r>
          </a:p>
        </p:txBody>
      </p:sp>
      <p:sp>
        <p:nvSpPr>
          <p:cNvPr id="8" name="Subtitle 3">
            <a:extLst>
              <a:ext uri="{FF2B5EF4-FFF2-40B4-BE49-F238E27FC236}">
                <a16:creationId xmlns:a16="http://schemas.microsoft.com/office/drawing/2014/main" id="{46F55BBE-A277-D506-F369-434056805295}"/>
              </a:ext>
            </a:extLst>
          </p:cNvPr>
          <p:cNvSpPr txBox="1">
            <a:spLocks/>
          </p:cNvSpPr>
          <p:nvPr/>
        </p:nvSpPr>
        <p:spPr>
          <a:xfrm>
            <a:off x="314848" y="3773092"/>
            <a:ext cx="11562303" cy="7010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6000" b="0" i="0" kern="120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o-RO" sz="2800" noProof="0" dirty="0"/>
              <a:t>Mod de Utilizare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E32AC1-2D7C-E9FD-F3A3-C9E0E92D2CE0}"/>
              </a:ext>
            </a:extLst>
          </p:cNvPr>
          <p:cNvSpPr txBox="1"/>
          <p:nvPr/>
        </p:nvSpPr>
        <p:spPr>
          <a:xfrm>
            <a:off x="1821780" y="4325172"/>
            <a:ext cx="8562479" cy="18355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Cel mai ușor mod de rulare este prin rularea executabilului.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Utilizatorii mai avansați pot opta pentru rularea manuală a codului sursă prin intermediul unui emulator de terminal, de exemplu (CMD, PowerShell, Bash etc.). </a:t>
            </a:r>
          </a:p>
        </p:txBody>
      </p:sp>
    </p:spTree>
    <p:extLst>
      <p:ext uri="{BB962C8B-B14F-4D97-AF65-F5344CB8AC3E}">
        <p14:creationId xmlns:p14="http://schemas.microsoft.com/office/powerpoint/2010/main" val="9437255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0903-003B-273E-3584-5312F76C3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6029848"/>
            <a:ext cx="7420819" cy="1656304"/>
          </a:xfrm>
        </p:spPr>
        <p:txBody>
          <a:bodyPr/>
          <a:lstStyle/>
          <a:p>
            <a:r>
              <a:rPr lang="ro-RO" noProof="0" dirty="0"/>
              <a:t>Modelul folosit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60DFF-2E7E-7A22-819A-C011020DFF0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-10043955"/>
            <a:ext cx="7420819" cy="3676649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ro-RO" sz="2200" noProof="0" dirty="0">
                <a:latin typeface="Corbel" panose="020B0503020204020204" pitchFamily="34" charset="0"/>
              </a:rPr>
              <a:t>M2M100_418M (Many-to-Many Multilingual Translation) este un model AI dezvoltat de Meta (Facebook) pentru traducere automată între 100 de limbi, capabil să traducă direct între orice pereche de limbi, fără limbă intermediară.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ro-RO" sz="2200" noProof="0" dirty="0">
                <a:latin typeface="Corbel" panose="020B0503020204020204" pitchFamily="34" charset="0"/>
              </a:rPr>
              <a:t>Este un model de tip </a:t>
            </a:r>
            <a:r>
              <a:rPr lang="ro-RO" sz="2200" b="1" noProof="0" dirty="0">
                <a:latin typeface="Corbel" panose="020B0503020204020204" pitchFamily="34" charset="0"/>
              </a:rPr>
              <a:t>Transformer Encoder–Decoder</a:t>
            </a:r>
            <a:r>
              <a:rPr lang="ro-RO" sz="2200" noProof="0" dirty="0">
                <a:latin typeface="Corbel" panose="020B0503020204020204" pitchFamily="34" charset="0"/>
              </a:rPr>
              <a:t>, specializat exclusiv pentru traducere. 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ro-RO" sz="2200" noProof="0" dirty="0">
                <a:latin typeface="Corbel" panose="020B0503020204020204" pitchFamily="34" charset="0"/>
              </a:rPr>
              <a:t>Numele vine de la M2M100_418M — „many-to-many for 100 languages” — și 418M indică faptul că are aproximativ 418 milioane de parametri.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347AE7-D6A2-42FB-3D58-6297742FC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ro-RO" noProof="0" smtClean="0"/>
              <a:pPr/>
              <a:t>6</a:t>
            </a:fld>
            <a:endParaRPr lang="ro-RO" noProof="0" dirty="0"/>
          </a:p>
        </p:txBody>
      </p:sp>
    </p:spTree>
    <p:extLst>
      <p:ext uri="{BB962C8B-B14F-4D97-AF65-F5344CB8AC3E}">
        <p14:creationId xmlns:p14="http://schemas.microsoft.com/office/powerpoint/2010/main" val="19626372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8C22A-D5F9-0886-0B8E-DE0D6E34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FE5A8-F386-479A-1F2B-DF90B323E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ro-RO" noProof="0" dirty="0"/>
              <a:t>Modelul folosit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1BCE47-5888-3E99-69E7-DD6170197DA9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8" y="2160745"/>
            <a:ext cx="7420819" cy="3676649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ro-RO" sz="2200" noProof="0" dirty="0">
                <a:latin typeface="Corbel" panose="020B0503020204020204" pitchFamily="34" charset="0"/>
              </a:rPr>
              <a:t>M2M100_418M (Many-to-Many Multilingual Translation) este un model AI dezvoltat de Meta (Facebook) pentru traducere automată între 100 de limbi, capabil să traducă direct între orice pereche de limbi, fără limbă intermediară.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ro-RO" sz="2200" noProof="0" dirty="0">
                <a:latin typeface="Corbel" panose="020B0503020204020204" pitchFamily="34" charset="0"/>
              </a:rPr>
              <a:t>Este un model de tip </a:t>
            </a:r>
            <a:r>
              <a:rPr lang="ro-RO" sz="2200" b="1" noProof="0" dirty="0">
                <a:latin typeface="Corbel" panose="020B0503020204020204" pitchFamily="34" charset="0"/>
              </a:rPr>
              <a:t>Transformer Encoder–Decoder</a:t>
            </a:r>
            <a:r>
              <a:rPr lang="ro-RO" sz="2200" noProof="0" dirty="0">
                <a:latin typeface="Corbel" panose="020B0503020204020204" pitchFamily="34" charset="0"/>
              </a:rPr>
              <a:t>, specializat exclusiv pentru traducere. 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ro-RO" sz="2200" noProof="0" dirty="0">
                <a:latin typeface="Corbel" panose="020B0503020204020204" pitchFamily="34" charset="0"/>
              </a:rPr>
              <a:t>Numele vine de la M2M100_418M — „many-to-many for 100 languages” — și 418M indică faptul că are aproximativ 418 milioane de parametri.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AFAE4C-C66D-B9A0-8255-4E7C1EAD3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ro-RO" noProof="0" smtClean="0"/>
              <a:pPr/>
              <a:t>7</a:t>
            </a:fld>
            <a:endParaRPr lang="ro-RO" noProof="0" dirty="0"/>
          </a:p>
        </p:txBody>
      </p:sp>
    </p:spTree>
    <p:extLst>
      <p:ext uri="{BB962C8B-B14F-4D97-AF65-F5344CB8AC3E}">
        <p14:creationId xmlns:p14="http://schemas.microsoft.com/office/powerpoint/2010/main" val="15376118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5FB98-12AF-0B67-2110-9E8843A5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4B2CB6FB-618B-36E0-42D0-861606CFB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10800000">
            <a:off x="321869" y="-1763965"/>
            <a:ext cx="11562303" cy="701040"/>
          </a:xfrm>
        </p:spPr>
        <p:txBody>
          <a:bodyPr/>
          <a:lstStyle/>
          <a:p>
            <a:r>
              <a:rPr lang="ro-RO" sz="4400" noProof="0" dirty="0"/>
              <a:t>Procesarea textului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C9082D-4B3D-CC3E-D634-068102840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024F78-56A6-7740-B68D-8D4D026EDF3F}" type="slidenum">
              <a:rPr kumimoji="0" lang="ro-RO" sz="12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iome"/>
                <a:ea typeface="+mn-ea"/>
                <a:cs typeface="Biome" panose="020B05030302040208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ro-RO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iome"/>
              <a:ea typeface="+mn-ea"/>
              <a:cs typeface="Biome" panose="020B05030302040208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8C9D3F-E04E-328D-B764-CB096D036F41}"/>
              </a:ext>
            </a:extLst>
          </p:cNvPr>
          <p:cNvSpPr txBox="1"/>
          <p:nvPr/>
        </p:nvSpPr>
        <p:spPr>
          <a:xfrm rot="8226101">
            <a:off x="-2088519" y="-2454134"/>
            <a:ext cx="166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noProof="0" dirty="0">
                <a:solidFill>
                  <a:schemeClr val="bg1"/>
                </a:solidFill>
              </a:rPr>
              <a:t>1.  Tokenizare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A69249-B07D-B9FB-0541-2F990352880B}"/>
              </a:ext>
            </a:extLst>
          </p:cNvPr>
          <p:cNvSpPr txBox="1"/>
          <p:nvPr/>
        </p:nvSpPr>
        <p:spPr>
          <a:xfrm rot="14738320">
            <a:off x="15667966" y="-806220"/>
            <a:ext cx="3709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noProof="0" dirty="0">
                <a:solidFill>
                  <a:schemeClr val="bg1"/>
                </a:solidFill>
              </a:rPr>
              <a:t>2.  Encoder - înțelegerea textului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B43BCD-4208-D539-8EDA-2F140876927A}"/>
              </a:ext>
            </a:extLst>
          </p:cNvPr>
          <p:cNvSpPr txBox="1"/>
          <p:nvPr/>
        </p:nvSpPr>
        <p:spPr>
          <a:xfrm rot="2836588">
            <a:off x="-5443569" y="10449186"/>
            <a:ext cx="3887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noProof="0" dirty="0">
                <a:solidFill>
                  <a:schemeClr val="bg1"/>
                </a:solidFill>
              </a:rPr>
              <a:t>3.  Decoder – generarea traducerii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829E94-81D4-D920-5504-D7FA02020FE5}"/>
              </a:ext>
            </a:extLst>
          </p:cNvPr>
          <p:cNvSpPr txBox="1"/>
          <p:nvPr/>
        </p:nvSpPr>
        <p:spPr>
          <a:xfrm>
            <a:off x="-5709385" y="-4279329"/>
            <a:ext cx="4418978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noProof="0" dirty="0">
                <a:solidFill>
                  <a:schemeClr val="bg1"/>
                </a:solidFill>
              </a:rPr>
              <a:t>    Textul introdus este împărțit în sub-unități (tokeni) și transformat în numere, deoarece modelul lucrează doar cu valori numerice, nu cu litere sau cuvinte.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987892-6D4C-80D2-C6F6-1E820AE10CBD}"/>
              </a:ext>
            </a:extLst>
          </p:cNvPr>
          <p:cNvSpPr txBox="1"/>
          <p:nvPr/>
        </p:nvSpPr>
        <p:spPr>
          <a:xfrm>
            <a:off x="18140172" y="-2108924"/>
            <a:ext cx="5470219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noProof="0" dirty="0">
                <a:solidFill>
                  <a:schemeClr val="bg1"/>
                </a:solidFill>
              </a:rPr>
              <a:t>    Partea de encoder analizează propoziția sursă și construiește o reprezentare matematică a sensului ei, folosind mecanismul de </a:t>
            </a:r>
            <a:r>
              <a:rPr lang="ro-RO" b="1" noProof="0" dirty="0">
                <a:solidFill>
                  <a:schemeClr val="bg1"/>
                </a:solidFill>
              </a:rPr>
              <a:t>self-attention</a:t>
            </a:r>
            <a:r>
              <a:rPr lang="ro-RO" noProof="0" dirty="0">
                <a:solidFill>
                  <a:schemeClr val="bg1"/>
                </a:solidFill>
              </a:rPr>
              <a:t> pentru a surprinde relațiile dintre cuvinte.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42928A-69AD-0045-B44E-FF27FA8EC33F}"/>
              </a:ext>
            </a:extLst>
          </p:cNvPr>
          <p:cNvSpPr txBox="1"/>
          <p:nvPr/>
        </p:nvSpPr>
        <p:spPr>
          <a:xfrm>
            <a:off x="-8428512" y="11491554"/>
            <a:ext cx="4928616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noProof="0" dirty="0">
                <a:solidFill>
                  <a:schemeClr val="bg1"/>
                </a:solidFill>
              </a:rPr>
              <a:t>    Decoderul folosește această reprezentare și generează propoziția tradusă, cuvânt cu cuvânt, în limba țintă, ținând cont de contextul global.</a:t>
            </a:r>
          </a:p>
        </p:txBody>
      </p:sp>
    </p:spTree>
    <p:extLst>
      <p:ext uri="{BB962C8B-B14F-4D97-AF65-F5344CB8AC3E}">
        <p14:creationId xmlns:p14="http://schemas.microsoft.com/office/powerpoint/2010/main" val="8121391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B7594-5572-0970-8690-B2F69052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D7508554-7C82-3A7F-9BF1-D20186256B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869" y="579121"/>
            <a:ext cx="11562303" cy="701040"/>
          </a:xfrm>
        </p:spPr>
        <p:txBody>
          <a:bodyPr/>
          <a:lstStyle/>
          <a:p>
            <a:r>
              <a:rPr lang="ro-RO" sz="4400" noProof="0" dirty="0"/>
              <a:t>Procesarea textului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E57310-86E4-0F05-55EE-09EEEAAD9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024F78-56A6-7740-B68D-8D4D026EDF3F}" type="slidenum">
              <a:rPr kumimoji="0" lang="ro-RO" sz="12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iome"/>
                <a:ea typeface="+mn-ea"/>
                <a:cs typeface="Biome" panose="020B05030302040208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ro-RO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iome"/>
              <a:ea typeface="+mn-ea"/>
              <a:cs typeface="Biome" panose="020B05030302040208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6C0D47-9300-A0A5-984F-6F1727AD143E}"/>
              </a:ext>
            </a:extLst>
          </p:cNvPr>
          <p:cNvSpPr txBox="1"/>
          <p:nvPr/>
        </p:nvSpPr>
        <p:spPr>
          <a:xfrm>
            <a:off x="1797681" y="1813066"/>
            <a:ext cx="166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noProof="0" dirty="0">
                <a:solidFill>
                  <a:schemeClr val="bg1"/>
                </a:solidFill>
              </a:rPr>
              <a:t>1.  Tokenizare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357B93-39AF-76EB-9101-34777066B58D}"/>
              </a:ext>
            </a:extLst>
          </p:cNvPr>
          <p:cNvSpPr txBox="1"/>
          <p:nvPr/>
        </p:nvSpPr>
        <p:spPr>
          <a:xfrm>
            <a:off x="7171666" y="2724912"/>
            <a:ext cx="3709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noProof="0" dirty="0">
                <a:solidFill>
                  <a:schemeClr val="bg1"/>
                </a:solidFill>
              </a:rPr>
              <a:t>2.  Encoder - înțelegerea textului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BC8943-7C1C-212E-4182-74832FCE52DF}"/>
              </a:ext>
            </a:extLst>
          </p:cNvPr>
          <p:cNvSpPr txBox="1"/>
          <p:nvPr/>
        </p:nvSpPr>
        <p:spPr>
          <a:xfrm>
            <a:off x="1870833" y="4353186"/>
            <a:ext cx="3887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noProof="0" dirty="0">
                <a:solidFill>
                  <a:schemeClr val="bg1"/>
                </a:solidFill>
              </a:rPr>
              <a:t>3.  Decoder – generarea traducerii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3CF1BA-BB97-F12A-F93A-DD2F90BC575F}"/>
              </a:ext>
            </a:extLst>
          </p:cNvPr>
          <p:cNvSpPr txBox="1"/>
          <p:nvPr/>
        </p:nvSpPr>
        <p:spPr>
          <a:xfrm>
            <a:off x="975747" y="2216509"/>
            <a:ext cx="4418978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noProof="0" dirty="0">
                <a:solidFill>
                  <a:schemeClr val="bg1"/>
                </a:solidFill>
              </a:rPr>
              <a:t>    Textul introdus este împărțit în sub-unități (tokeni) și transformat în numere, deoarece modelul lucrează doar cu valori numerice, nu cu litere sau cuvinte.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5FFF1D-8E54-EA66-B92A-470799A27FDD}"/>
              </a:ext>
            </a:extLst>
          </p:cNvPr>
          <p:cNvSpPr txBox="1"/>
          <p:nvPr/>
        </p:nvSpPr>
        <p:spPr>
          <a:xfrm>
            <a:off x="6291072" y="3094244"/>
            <a:ext cx="5470219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noProof="0" dirty="0">
                <a:solidFill>
                  <a:schemeClr val="bg1"/>
                </a:solidFill>
              </a:rPr>
              <a:t>    Partea de encoder analizează propoziția sursă și construiește o reprezentare matematică a sensului ei, folosind mecanismul de </a:t>
            </a:r>
            <a:r>
              <a:rPr lang="ro-RO" b="1" noProof="0" dirty="0">
                <a:solidFill>
                  <a:schemeClr val="bg1"/>
                </a:solidFill>
              </a:rPr>
              <a:t>self-attention</a:t>
            </a:r>
            <a:r>
              <a:rPr lang="ro-RO" noProof="0" dirty="0">
                <a:solidFill>
                  <a:schemeClr val="bg1"/>
                </a:solidFill>
              </a:rPr>
              <a:t> pentru a surprinde relațiile dintre cuvinte.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8CC418-52C4-1061-FEFD-9DC8736D66BC}"/>
              </a:ext>
            </a:extLst>
          </p:cNvPr>
          <p:cNvSpPr txBox="1"/>
          <p:nvPr/>
        </p:nvSpPr>
        <p:spPr>
          <a:xfrm>
            <a:off x="1350198" y="4722518"/>
            <a:ext cx="4928616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noProof="0" dirty="0">
                <a:solidFill>
                  <a:schemeClr val="bg1"/>
                </a:solidFill>
              </a:rPr>
              <a:t>    Decoderul folosește această reprezentare și generează propoziția tradusă, cuvânt cu cuvânt, în limba țintă, ținând cont de contextul global.</a:t>
            </a:r>
          </a:p>
        </p:txBody>
      </p:sp>
    </p:spTree>
    <p:extLst>
      <p:ext uri="{BB962C8B-B14F-4D97-AF65-F5344CB8AC3E}">
        <p14:creationId xmlns:p14="http://schemas.microsoft.com/office/powerpoint/2010/main" val="16634788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24B35-328C-B5C1-C2B2-57998BC0A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9D9AF7-F2C1-A5C5-811F-21754DF66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024F78-56A6-7740-B68D-8D4D026EDF3F}" type="slidenum">
              <a:rPr kumimoji="0" lang="ro-RO" sz="12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iome"/>
                <a:ea typeface="+mn-ea"/>
                <a:cs typeface="Biome" panose="020B05030302040208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ro-RO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iome"/>
              <a:ea typeface="+mn-ea"/>
              <a:cs typeface="Biome" panose="020B05030302040208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0035DE-A358-DD28-6E3C-CACAEFF64257}"/>
              </a:ext>
            </a:extLst>
          </p:cNvPr>
          <p:cNvSpPr txBox="1"/>
          <p:nvPr/>
        </p:nvSpPr>
        <p:spPr>
          <a:xfrm>
            <a:off x="6470121" y="7231382"/>
            <a:ext cx="3378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4</a:t>
            </a:r>
            <a:r>
              <a:rPr lang="ro-RO" b="1" noProof="0" dirty="0">
                <a:solidFill>
                  <a:schemeClr val="bg1"/>
                </a:solidFill>
              </a:rPr>
              <a:t>.  </a:t>
            </a:r>
            <a:r>
              <a:rPr lang="en-US" b="1" dirty="0" err="1">
                <a:solidFill>
                  <a:schemeClr val="bg1"/>
                </a:solidFill>
              </a:rPr>
              <a:t>Mecanismul</a:t>
            </a:r>
            <a:r>
              <a:rPr lang="en-US" b="1" dirty="0">
                <a:solidFill>
                  <a:schemeClr val="bg1"/>
                </a:solidFill>
              </a:rPr>
              <a:t> Self-Attention</a:t>
            </a:r>
            <a:endParaRPr lang="ro-RO" b="1" noProof="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A73EB9-EF18-30BA-00C3-234FC1700682}"/>
              </a:ext>
            </a:extLst>
          </p:cNvPr>
          <p:cNvSpPr txBox="1"/>
          <p:nvPr/>
        </p:nvSpPr>
        <p:spPr>
          <a:xfrm>
            <a:off x="2273360" y="-810591"/>
            <a:ext cx="2159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5.  </a:t>
            </a:r>
            <a:r>
              <a:rPr lang="en-US" b="1" dirty="0" err="1">
                <a:solidFill>
                  <a:schemeClr val="bg1"/>
                </a:solidFill>
              </a:rPr>
              <a:t>Controlul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limbii</a:t>
            </a:r>
            <a:endParaRPr lang="ro-RO" b="1" noProof="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B615D8-F1C2-D60C-3F00-CF6EF6BCAF07}"/>
              </a:ext>
            </a:extLst>
          </p:cNvPr>
          <p:cNvSpPr txBox="1"/>
          <p:nvPr/>
        </p:nvSpPr>
        <p:spPr>
          <a:xfrm>
            <a:off x="5535067" y="12393474"/>
            <a:ext cx="5943577" cy="2720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</a:rPr>
              <a:t>    Self-attention </a:t>
            </a:r>
            <a:r>
              <a:rPr lang="en-US" dirty="0" err="1">
                <a:solidFill>
                  <a:schemeClr val="bg1"/>
                </a:solidFill>
              </a:rPr>
              <a:t>permite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fiecărui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cuvânt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țină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cont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toate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celelalte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cuvinte</a:t>
            </a:r>
            <a:r>
              <a:rPr lang="en-US" dirty="0">
                <a:solidFill>
                  <a:schemeClr val="bg1"/>
                </a:solidFill>
              </a:rPr>
              <a:t> din </a:t>
            </a:r>
            <a:r>
              <a:rPr lang="en-US" dirty="0" err="1">
                <a:solidFill>
                  <a:schemeClr val="bg1"/>
                </a:solidFill>
              </a:rPr>
              <a:t>propoziție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ceea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ajută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modelul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să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>
              <a:lnSpc>
                <a:spcPct val="120000"/>
              </a:lnSpc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solidFill>
                  <a:schemeClr val="bg1"/>
                </a:solidFill>
              </a:rPr>
              <a:t>înțeleagă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structura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gramaticală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solidFill>
                  <a:schemeClr val="bg1"/>
                </a:solidFill>
              </a:rPr>
              <a:t>păstreze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sensul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propoziției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it-IT" dirty="0">
                <a:solidFill>
                  <a:schemeClr val="bg1"/>
                </a:solidFill>
              </a:rPr>
              <a:t>evite traducerile mecanice, cuvânt cu cuvânt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120000"/>
              </a:lnSpc>
            </a:pPr>
            <a:endParaRPr lang="ro-RO" noProof="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4C55B6-A62B-3BD4-B0C0-CF0DFAA736B7}"/>
              </a:ext>
            </a:extLst>
          </p:cNvPr>
          <p:cNvSpPr txBox="1"/>
          <p:nvPr/>
        </p:nvSpPr>
        <p:spPr>
          <a:xfrm>
            <a:off x="1089928" y="-7637775"/>
            <a:ext cx="4631952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</a:rPr>
              <a:t>    </a:t>
            </a:r>
            <a:r>
              <a:rPr lang="en-US" dirty="0" err="1">
                <a:solidFill>
                  <a:schemeClr val="bg1"/>
                </a:solidFill>
              </a:rPr>
              <a:t>Modelul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este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ghidat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către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limba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dorită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printr</a:t>
            </a:r>
            <a:r>
              <a:rPr lang="en-US" dirty="0">
                <a:solidFill>
                  <a:schemeClr val="bg1"/>
                </a:solidFill>
              </a:rPr>
              <a:t>-un token special de </a:t>
            </a:r>
            <a:r>
              <a:rPr lang="en-US" dirty="0" err="1">
                <a:solidFill>
                  <a:schemeClr val="bg1"/>
                </a:solidFill>
              </a:rPr>
              <a:t>limbă</a:t>
            </a:r>
            <a:r>
              <a:rPr lang="en-US" dirty="0">
                <a:solidFill>
                  <a:schemeClr val="bg1"/>
                </a:solidFill>
              </a:rPr>
              <a:t>, care </a:t>
            </a:r>
            <a:r>
              <a:rPr lang="en-US" dirty="0" err="1">
                <a:solidFill>
                  <a:schemeClr val="bg1"/>
                </a:solidFill>
              </a:rPr>
              <a:t>îi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spune</a:t>
            </a:r>
            <a:r>
              <a:rPr lang="en-US" dirty="0">
                <a:solidFill>
                  <a:schemeClr val="bg1"/>
                </a:solidFill>
              </a:rPr>
              <a:t> explicit </a:t>
            </a:r>
            <a:r>
              <a:rPr lang="en-US" dirty="0" err="1">
                <a:solidFill>
                  <a:schemeClr val="bg1"/>
                </a:solidFill>
              </a:rPr>
              <a:t>în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limbă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trebuie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genereze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rezultatul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ro-RO" noProof="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07D63A-082A-556B-F7F3-156B1F6A9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444594" y="-2874264"/>
            <a:ext cx="57149" cy="45719"/>
          </a:xfrm>
          <a:prstGeom prst="rect">
            <a:avLst/>
          </a:prstGeom>
          <a:effectLst>
            <a:softEdge rad="1143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0D03F7A-F264-4AD1-D554-7AE8A8461F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2449" y="7393189"/>
            <a:ext cx="85671" cy="45719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341270036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C302-AD2A-4C9A-991C-8118EC867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1AC313-894A-01F1-B712-841711F6B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024F78-56A6-7740-B68D-8D4D026EDF3F}" type="slidenum">
              <a:rPr kumimoji="0" lang="ro-RO" sz="12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iome"/>
                <a:ea typeface="+mn-ea"/>
                <a:cs typeface="Biome" panose="020B05030302040208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ro-RO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iome"/>
              <a:ea typeface="+mn-ea"/>
              <a:cs typeface="Biome" panose="020B05030302040208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AFE55C-4CE6-60F3-A718-8060CDB1D3B1}"/>
              </a:ext>
            </a:extLst>
          </p:cNvPr>
          <p:cNvSpPr txBox="1"/>
          <p:nvPr/>
        </p:nvSpPr>
        <p:spPr>
          <a:xfrm>
            <a:off x="6470121" y="865370"/>
            <a:ext cx="3378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4</a:t>
            </a:r>
            <a:r>
              <a:rPr lang="ro-RO" b="1" noProof="0" dirty="0">
                <a:solidFill>
                  <a:schemeClr val="bg1"/>
                </a:solidFill>
              </a:rPr>
              <a:t>.  </a:t>
            </a:r>
            <a:r>
              <a:rPr lang="en-US" b="1" dirty="0" err="1">
                <a:solidFill>
                  <a:schemeClr val="bg1"/>
                </a:solidFill>
              </a:rPr>
              <a:t>Mecanismul</a:t>
            </a:r>
            <a:r>
              <a:rPr lang="en-US" b="1" dirty="0">
                <a:solidFill>
                  <a:schemeClr val="bg1"/>
                </a:solidFill>
              </a:rPr>
              <a:t> Self-Attention</a:t>
            </a:r>
            <a:endParaRPr lang="ro-RO" b="1" noProof="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CDCD5A-127D-F56A-573F-2D5BCE753D37}"/>
              </a:ext>
            </a:extLst>
          </p:cNvPr>
          <p:cNvSpPr txBox="1"/>
          <p:nvPr/>
        </p:nvSpPr>
        <p:spPr>
          <a:xfrm>
            <a:off x="1997802" y="3958990"/>
            <a:ext cx="2159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5.  </a:t>
            </a:r>
            <a:r>
              <a:rPr lang="en-US" b="1" dirty="0" err="1">
                <a:solidFill>
                  <a:schemeClr val="bg1"/>
                </a:solidFill>
              </a:rPr>
              <a:t>Controlul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limbii</a:t>
            </a:r>
            <a:endParaRPr lang="ro-RO" b="1" noProof="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71F937-CB9E-F62F-8382-C33DE3789166}"/>
              </a:ext>
            </a:extLst>
          </p:cNvPr>
          <p:cNvSpPr txBox="1"/>
          <p:nvPr/>
        </p:nvSpPr>
        <p:spPr>
          <a:xfrm>
            <a:off x="5458968" y="1302687"/>
            <a:ext cx="5943577" cy="2720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</a:rPr>
              <a:t>    Self-attention </a:t>
            </a:r>
            <a:r>
              <a:rPr lang="en-US" dirty="0" err="1">
                <a:solidFill>
                  <a:schemeClr val="bg1"/>
                </a:solidFill>
              </a:rPr>
              <a:t>permite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fiecărui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cuvânt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țină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cont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toate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celelalte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cuvinte</a:t>
            </a:r>
            <a:r>
              <a:rPr lang="en-US" dirty="0">
                <a:solidFill>
                  <a:schemeClr val="bg1"/>
                </a:solidFill>
              </a:rPr>
              <a:t> din </a:t>
            </a:r>
            <a:r>
              <a:rPr lang="en-US" dirty="0" err="1">
                <a:solidFill>
                  <a:schemeClr val="bg1"/>
                </a:solidFill>
              </a:rPr>
              <a:t>propoziție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ceea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ajută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modelul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să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>
              <a:lnSpc>
                <a:spcPct val="120000"/>
              </a:lnSpc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solidFill>
                  <a:schemeClr val="bg1"/>
                </a:solidFill>
              </a:rPr>
              <a:t>înțeleagă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structura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gramaticală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solidFill>
                  <a:schemeClr val="bg1"/>
                </a:solidFill>
              </a:rPr>
              <a:t>păstreze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sensul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propoziției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it-IT" dirty="0">
                <a:solidFill>
                  <a:schemeClr val="bg1"/>
                </a:solidFill>
              </a:rPr>
              <a:t>evite traducerile mecanice, cuvânt cu cuvânt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120000"/>
              </a:lnSpc>
            </a:pPr>
            <a:endParaRPr lang="ro-RO" noProof="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9B4069-1C14-F6B8-CC48-DB6E4D8FC5DF}"/>
              </a:ext>
            </a:extLst>
          </p:cNvPr>
          <p:cNvSpPr txBox="1"/>
          <p:nvPr/>
        </p:nvSpPr>
        <p:spPr>
          <a:xfrm>
            <a:off x="1037328" y="4354984"/>
            <a:ext cx="4631952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</a:rPr>
              <a:t>    </a:t>
            </a:r>
            <a:r>
              <a:rPr lang="en-US" dirty="0" err="1">
                <a:solidFill>
                  <a:schemeClr val="bg1"/>
                </a:solidFill>
              </a:rPr>
              <a:t>Modelul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este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ghidat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către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limba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dorită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printr</a:t>
            </a:r>
            <a:r>
              <a:rPr lang="en-US" dirty="0">
                <a:solidFill>
                  <a:schemeClr val="bg1"/>
                </a:solidFill>
              </a:rPr>
              <a:t>-un token special de </a:t>
            </a:r>
            <a:r>
              <a:rPr lang="en-US" dirty="0" err="1">
                <a:solidFill>
                  <a:schemeClr val="bg1"/>
                </a:solidFill>
              </a:rPr>
              <a:t>limbă</a:t>
            </a:r>
            <a:r>
              <a:rPr lang="en-US" dirty="0">
                <a:solidFill>
                  <a:schemeClr val="bg1"/>
                </a:solidFill>
              </a:rPr>
              <a:t>, care </a:t>
            </a:r>
            <a:r>
              <a:rPr lang="en-US" dirty="0" err="1">
                <a:solidFill>
                  <a:schemeClr val="bg1"/>
                </a:solidFill>
              </a:rPr>
              <a:t>îi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spune</a:t>
            </a:r>
            <a:r>
              <a:rPr lang="en-US" dirty="0">
                <a:solidFill>
                  <a:schemeClr val="bg1"/>
                </a:solidFill>
              </a:rPr>
              <a:t> explicit </a:t>
            </a:r>
            <a:r>
              <a:rPr lang="en-US" dirty="0" err="1">
                <a:solidFill>
                  <a:schemeClr val="bg1"/>
                </a:solidFill>
              </a:rPr>
              <a:t>în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limbă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trebuie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genereze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rezultatul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ro-RO" noProof="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291B68-4CC2-A481-F20D-58FC7AF2D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606" y="1050036"/>
            <a:ext cx="2986278" cy="2389022"/>
          </a:xfrm>
          <a:prstGeom prst="rect">
            <a:avLst/>
          </a:prstGeom>
          <a:effectLst>
            <a:softEdge rad="1143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2605CFA-B1FF-D899-8690-104112E71B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2049" y="3849889"/>
            <a:ext cx="3897414" cy="2079893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8158816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BE4E0F37-0AD5-833C-CBE5-EAE02EC460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4363224">
            <a:off x="-4420922" y="-2568354"/>
            <a:ext cx="4250127" cy="540631"/>
          </a:xfrm>
        </p:spPr>
        <p:txBody>
          <a:bodyPr/>
          <a:lstStyle/>
          <a:p>
            <a:r>
              <a:rPr lang="en-US" noProof="0" dirty="0" err="1"/>
              <a:t>Performan</a:t>
            </a:r>
            <a:r>
              <a:rPr lang="ro-RO" dirty="0"/>
              <a:t>ță</a:t>
            </a:r>
            <a:endParaRPr lang="en-US" dirty="0"/>
          </a:p>
        </p:txBody>
      </p:sp>
      <p:pic>
        <p:nvPicPr>
          <p:cNvPr id="8" name="Picture Placeholder 7" descr="A blue and purple spirals">
            <a:extLst>
              <a:ext uri="{FF2B5EF4-FFF2-40B4-BE49-F238E27FC236}">
                <a16:creationId xmlns:a16="http://schemas.microsoft.com/office/drawing/2014/main" id="{E1DBD4C7-D952-4426-40FD-8799F80F821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31" b="31"/>
          <a:stretch/>
        </p:blipFill>
        <p:spPr>
          <a:xfrm>
            <a:off x="6497638" y="336550"/>
            <a:ext cx="5322887" cy="61849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6EA54-3083-FB0D-9011-2353791B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ro-RO" noProof="0" smtClean="0"/>
              <a:pPr/>
              <a:t>12</a:t>
            </a:fld>
            <a:endParaRPr lang="ro-RO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5D12DC-594C-9C88-73BA-7F95FD378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71475" y="942960"/>
            <a:ext cx="5322888" cy="807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AF88ADA-DE23-74CB-88DE-69AFD4B5FD0B}"/>
              </a:ext>
            </a:extLst>
          </p:cNvPr>
          <p:cNvSpPr txBox="1"/>
          <p:nvPr/>
        </p:nvSpPr>
        <p:spPr>
          <a:xfrm>
            <a:off x="13851779" y="1324390"/>
            <a:ext cx="2537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Antrenarea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modelului</a:t>
            </a:r>
            <a:endParaRPr lang="ro-RO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38D418-7B7A-461D-1C8B-F469FB52A822}"/>
              </a:ext>
            </a:extLst>
          </p:cNvPr>
          <p:cNvSpPr txBox="1"/>
          <p:nvPr/>
        </p:nvSpPr>
        <p:spPr>
          <a:xfrm>
            <a:off x="-7915275" y="1735077"/>
            <a:ext cx="5322888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dirty="0">
                <a:solidFill>
                  <a:schemeClr val="bg1"/>
                </a:solidFill>
              </a:rPr>
              <a:t>    </a:t>
            </a:r>
            <a:r>
              <a:rPr lang="en-US" dirty="0">
                <a:solidFill>
                  <a:schemeClr val="bg1"/>
                </a:solidFill>
              </a:rPr>
              <a:t>M2M100 a </a:t>
            </a:r>
            <a:r>
              <a:rPr lang="en-US" dirty="0" err="1">
                <a:solidFill>
                  <a:schemeClr val="bg1"/>
                </a:solidFill>
              </a:rPr>
              <a:t>fost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antrenat</a:t>
            </a:r>
            <a:r>
              <a:rPr lang="en-US" dirty="0">
                <a:solidFill>
                  <a:schemeClr val="bg1"/>
                </a:solidFill>
              </a:rPr>
              <a:t> pe </a:t>
            </a:r>
            <a:r>
              <a:rPr lang="en-US" dirty="0" err="1">
                <a:solidFill>
                  <a:schemeClr val="bg1"/>
                </a:solidFill>
              </a:rPr>
              <a:t>miliarde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propoziții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traduse</a:t>
            </a:r>
            <a:r>
              <a:rPr lang="en-US" dirty="0">
                <a:solidFill>
                  <a:schemeClr val="bg1"/>
                </a:solidFill>
              </a:rPr>
              <a:t> din </a:t>
            </a:r>
            <a:r>
              <a:rPr lang="en-US" dirty="0" err="1">
                <a:solidFill>
                  <a:schemeClr val="bg1"/>
                </a:solidFill>
              </a:rPr>
              <a:t>surse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reale</a:t>
            </a:r>
            <a:r>
              <a:rPr lang="en-US" dirty="0">
                <a:solidFill>
                  <a:schemeClr val="bg1"/>
                </a:solidFill>
              </a:rPr>
              <a:t> (</a:t>
            </a:r>
            <a:r>
              <a:rPr lang="en-US" dirty="0" err="1">
                <a:solidFill>
                  <a:schemeClr val="bg1"/>
                </a:solidFill>
              </a:rPr>
              <a:t>documente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oficiale</a:t>
            </a:r>
            <a:r>
              <a:rPr lang="en-US" dirty="0">
                <a:solidFill>
                  <a:schemeClr val="bg1"/>
                </a:solidFill>
              </a:rPr>
              <a:t>, web, Wikipedia etc.), </a:t>
            </a:r>
            <a:r>
              <a:rPr lang="en-US" dirty="0" err="1">
                <a:solidFill>
                  <a:schemeClr val="bg1"/>
                </a:solidFill>
              </a:rPr>
              <a:t>învățând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tipare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statistice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între</a:t>
            </a:r>
            <a:r>
              <a:rPr lang="en-US" dirty="0">
                <a:solidFill>
                  <a:schemeClr val="bg1"/>
                </a:solidFill>
              </a:rPr>
              <a:t> limbi </a:t>
            </a:r>
            <a:r>
              <a:rPr lang="en-US" dirty="0" err="1">
                <a:solidFill>
                  <a:schemeClr val="bg1"/>
                </a:solidFill>
              </a:rPr>
              <a:t>prin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ajustarea</a:t>
            </a:r>
            <a:r>
              <a:rPr lang="en-US" dirty="0">
                <a:solidFill>
                  <a:schemeClr val="bg1"/>
                </a:solidFill>
              </a:rPr>
              <a:t> a </a:t>
            </a:r>
            <a:r>
              <a:rPr lang="en-US" dirty="0" err="1">
                <a:solidFill>
                  <a:schemeClr val="bg1"/>
                </a:solidFill>
              </a:rPr>
              <a:t>peste</a:t>
            </a:r>
            <a:r>
              <a:rPr lang="en-US" dirty="0">
                <a:solidFill>
                  <a:schemeClr val="bg1"/>
                </a:solidFill>
              </a:rPr>
              <a:t> 418 </a:t>
            </a:r>
            <a:r>
              <a:rPr lang="en-US" dirty="0" err="1">
                <a:solidFill>
                  <a:schemeClr val="bg1"/>
                </a:solidFill>
              </a:rPr>
              <a:t>milioane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parametri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FE8425-C769-B4AA-C7AC-4A245ABE9D43}"/>
              </a:ext>
            </a:extLst>
          </p:cNvPr>
          <p:cNvSpPr txBox="1"/>
          <p:nvPr/>
        </p:nvSpPr>
        <p:spPr>
          <a:xfrm>
            <a:off x="-4505325" y="3707082"/>
            <a:ext cx="1533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dirty="0">
                <a:solidFill>
                  <a:schemeClr val="bg1"/>
                </a:solidFill>
              </a:rPr>
              <a:t>Performanță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AE4C16-BB36-5C6B-086F-BCB9328C8D2A}"/>
              </a:ext>
            </a:extLst>
          </p:cNvPr>
          <p:cNvSpPr txBox="1"/>
          <p:nvPr/>
        </p:nvSpPr>
        <p:spPr>
          <a:xfrm>
            <a:off x="13851779" y="4076414"/>
            <a:ext cx="4955899" cy="21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</a:rPr>
              <a:t>M2M100 </a:t>
            </a:r>
            <a:r>
              <a:rPr lang="en-US" dirty="0" err="1">
                <a:solidFill>
                  <a:schemeClr val="bg1"/>
                </a:solidFill>
              </a:rPr>
              <a:t>este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eficient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deoarece</a:t>
            </a:r>
            <a:r>
              <a:rPr lang="en-US" dirty="0">
                <a:solidFill>
                  <a:schemeClr val="bg1"/>
                </a:solidFill>
              </a:rPr>
              <a:t>: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en-US" dirty="0" err="1">
                <a:solidFill>
                  <a:schemeClr val="bg1"/>
                </a:solidFill>
              </a:rPr>
              <a:t>folosește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arhitectura</a:t>
            </a:r>
            <a:r>
              <a:rPr lang="en-US" dirty="0">
                <a:solidFill>
                  <a:schemeClr val="bg1"/>
                </a:solidFill>
              </a:rPr>
              <a:t> Transformer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en-US" dirty="0" err="1">
                <a:solidFill>
                  <a:schemeClr val="bg1"/>
                </a:solidFill>
              </a:rPr>
              <a:t>modelează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contextul</a:t>
            </a:r>
            <a:r>
              <a:rPr lang="en-US" dirty="0">
                <a:solidFill>
                  <a:schemeClr val="bg1"/>
                </a:solidFill>
              </a:rPr>
              <a:t> global al </a:t>
            </a:r>
            <a:r>
              <a:rPr lang="en-US" dirty="0" err="1">
                <a:solidFill>
                  <a:schemeClr val="bg1"/>
                </a:solidFill>
              </a:rPr>
              <a:t>propoziției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fr-FR" dirty="0">
                <a:solidFill>
                  <a:schemeClr val="bg1"/>
                </a:solidFill>
              </a:rPr>
              <a:t>este </a:t>
            </a:r>
            <a:r>
              <a:rPr lang="fr-FR" dirty="0" err="1">
                <a:solidFill>
                  <a:schemeClr val="bg1"/>
                </a:solidFill>
              </a:rPr>
              <a:t>antrenat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pe</a:t>
            </a:r>
            <a:r>
              <a:rPr lang="fr-FR" dirty="0">
                <a:solidFill>
                  <a:schemeClr val="bg1"/>
                </a:solidFill>
              </a:rPr>
              <a:t> volume </a:t>
            </a:r>
            <a:r>
              <a:rPr lang="fr-FR" dirty="0" err="1">
                <a:solidFill>
                  <a:schemeClr val="bg1"/>
                </a:solidFill>
              </a:rPr>
              <a:t>foarte</a:t>
            </a:r>
            <a:r>
              <a:rPr lang="fr-FR" dirty="0">
                <a:solidFill>
                  <a:schemeClr val="bg1"/>
                </a:solidFill>
              </a:rPr>
              <a:t> mari de date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traduce direct </a:t>
            </a:r>
            <a:r>
              <a:rPr lang="en-US" dirty="0" err="1">
                <a:solidFill>
                  <a:schemeClr val="bg1"/>
                </a:solidFill>
              </a:rPr>
              <a:t>între</a:t>
            </a:r>
            <a:r>
              <a:rPr lang="en-US" dirty="0">
                <a:solidFill>
                  <a:schemeClr val="bg1"/>
                </a:solidFill>
              </a:rPr>
              <a:t> limbi, </a:t>
            </a:r>
            <a:r>
              <a:rPr lang="en-US" dirty="0" err="1">
                <a:solidFill>
                  <a:schemeClr val="bg1"/>
                </a:solidFill>
              </a:rPr>
              <a:t>fără</a:t>
            </a:r>
            <a:r>
              <a:rPr lang="en-US" dirty="0">
                <a:solidFill>
                  <a:schemeClr val="bg1"/>
                </a:solidFill>
              </a:rPr>
              <a:t> a </a:t>
            </a:r>
            <a:r>
              <a:rPr lang="en-US" dirty="0" err="1">
                <a:solidFill>
                  <a:schemeClr val="bg1"/>
                </a:solidFill>
              </a:rPr>
              <a:t>trece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engleză</a:t>
            </a:r>
            <a:endParaRPr lang="ro-RO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81449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AD1BB8-D57F-525C-2E32-A9334E4C2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7630F52D-3361-1E0E-A7AA-7E0BCB832E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8628" y="336550"/>
            <a:ext cx="4250127" cy="540631"/>
          </a:xfrm>
        </p:spPr>
        <p:txBody>
          <a:bodyPr/>
          <a:lstStyle/>
          <a:p>
            <a:r>
              <a:rPr lang="en-US" noProof="0" dirty="0" err="1"/>
              <a:t>Performan</a:t>
            </a:r>
            <a:r>
              <a:rPr lang="ro-RO" dirty="0"/>
              <a:t>ță</a:t>
            </a:r>
            <a:endParaRPr lang="en-US" dirty="0"/>
          </a:p>
        </p:txBody>
      </p:sp>
      <p:pic>
        <p:nvPicPr>
          <p:cNvPr id="8" name="Picture Placeholder 7" descr="A blue and purple spirals">
            <a:extLst>
              <a:ext uri="{FF2B5EF4-FFF2-40B4-BE49-F238E27FC236}">
                <a16:creationId xmlns:a16="http://schemas.microsoft.com/office/drawing/2014/main" id="{BDD526B2-3FB6-0DD6-B764-0F1F1930133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31" b="31"/>
          <a:stretch/>
        </p:blipFill>
        <p:spPr>
          <a:xfrm>
            <a:off x="6497638" y="336550"/>
            <a:ext cx="5322887" cy="61849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3D13C-53C3-DE21-2B3D-FA5FDF90A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ro-RO" noProof="0" smtClean="0"/>
              <a:pPr/>
              <a:t>13</a:t>
            </a:fld>
            <a:endParaRPr lang="ro-RO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DA0778-19B5-12DF-9C36-8C246B2E3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71475" y="942960"/>
            <a:ext cx="5322888" cy="807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6B0377-3C02-9B93-1552-BDF0A3AEFD26}"/>
              </a:ext>
            </a:extLst>
          </p:cNvPr>
          <p:cNvSpPr txBox="1"/>
          <p:nvPr/>
        </p:nvSpPr>
        <p:spPr>
          <a:xfrm>
            <a:off x="371475" y="1262270"/>
            <a:ext cx="2537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Antrenarea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modelului</a:t>
            </a:r>
            <a:endParaRPr lang="ro-RO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07443-E195-2F17-6790-39FCD0E644E3}"/>
              </a:ext>
            </a:extLst>
          </p:cNvPr>
          <p:cNvSpPr txBox="1"/>
          <p:nvPr/>
        </p:nvSpPr>
        <p:spPr>
          <a:xfrm>
            <a:off x="371475" y="1755855"/>
            <a:ext cx="5322888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dirty="0">
                <a:solidFill>
                  <a:schemeClr val="bg1"/>
                </a:solidFill>
              </a:rPr>
              <a:t>    </a:t>
            </a:r>
            <a:r>
              <a:rPr lang="en-US" dirty="0">
                <a:solidFill>
                  <a:schemeClr val="bg1"/>
                </a:solidFill>
              </a:rPr>
              <a:t>M2M100 a </a:t>
            </a:r>
            <a:r>
              <a:rPr lang="en-US" dirty="0" err="1">
                <a:solidFill>
                  <a:schemeClr val="bg1"/>
                </a:solidFill>
              </a:rPr>
              <a:t>fost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antrenat</a:t>
            </a:r>
            <a:r>
              <a:rPr lang="en-US" dirty="0">
                <a:solidFill>
                  <a:schemeClr val="bg1"/>
                </a:solidFill>
              </a:rPr>
              <a:t> pe </a:t>
            </a:r>
            <a:r>
              <a:rPr lang="en-US" dirty="0" err="1">
                <a:solidFill>
                  <a:schemeClr val="bg1"/>
                </a:solidFill>
              </a:rPr>
              <a:t>miliarde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propoziții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traduse</a:t>
            </a:r>
            <a:r>
              <a:rPr lang="en-US" dirty="0">
                <a:solidFill>
                  <a:schemeClr val="bg1"/>
                </a:solidFill>
              </a:rPr>
              <a:t> din </a:t>
            </a:r>
            <a:r>
              <a:rPr lang="en-US" dirty="0" err="1">
                <a:solidFill>
                  <a:schemeClr val="bg1"/>
                </a:solidFill>
              </a:rPr>
              <a:t>surse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reale</a:t>
            </a:r>
            <a:r>
              <a:rPr lang="en-US" dirty="0">
                <a:solidFill>
                  <a:schemeClr val="bg1"/>
                </a:solidFill>
              </a:rPr>
              <a:t> (</a:t>
            </a:r>
            <a:r>
              <a:rPr lang="en-US" dirty="0" err="1">
                <a:solidFill>
                  <a:schemeClr val="bg1"/>
                </a:solidFill>
              </a:rPr>
              <a:t>documente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oficiale</a:t>
            </a:r>
            <a:r>
              <a:rPr lang="en-US" dirty="0">
                <a:solidFill>
                  <a:schemeClr val="bg1"/>
                </a:solidFill>
              </a:rPr>
              <a:t>, web, Wikipedia etc.), </a:t>
            </a:r>
            <a:r>
              <a:rPr lang="en-US" dirty="0" err="1">
                <a:solidFill>
                  <a:schemeClr val="bg1"/>
                </a:solidFill>
              </a:rPr>
              <a:t>învățând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tipare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statistice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între</a:t>
            </a:r>
            <a:r>
              <a:rPr lang="en-US" dirty="0">
                <a:solidFill>
                  <a:schemeClr val="bg1"/>
                </a:solidFill>
              </a:rPr>
              <a:t> limbi </a:t>
            </a:r>
            <a:r>
              <a:rPr lang="en-US" dirty="0" err="1">
                <a:solidFill>
                  <a:schemeClr val="bg1"/>
                </a:solidFill>
              </a:rPr>
              <a:t>prin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ajustarea</a:t>
            </a:r>
            <a:r>
              <a:rPr lang="en-US" dirty="0">
                <a:solidFill>
                  <a:schemeClr val="bg1"/>
                </a:solidFill>
              </a:rPr>
              <a:t> a </a:t>
            </a:r>
            <a:r>
              <a:rPr lang="en-US" dirty="0" err="1">
                <a:solidFill>
                  <a:schemeClr val="bg1"/>
                </a:solidFill>
              </a:rPr>
              <a:t>peste</a:t>
            </a:r>
            <a:r>
              <a:rPr lang="en-US" dirty="0">
                <a:solidFill>
                  <a:schemeClr val="bg1"/>
                </a:solidFill>
              </a:rPr>
              <a:t> 418 </a:t>
            </a:r>
            <a:r>
              <a:rPr lang="en-US" dirty="0" err="1">
                <a:solidFill>
                  <a:schemeClr val="bg1"/>
                </a:solidFill>
              </a:rPr>
              <a:t>milioane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parametri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F5B1B7-0F79-146D-23D4-F210EF672BD8}"/>
              </a:ext>
            </a:extLst>
          </p:cNvPr>
          <p:cNvSpPr txBox="1"/>
          <p:nvPr/>
        </p:nvSpPr>
        <p:spPr>
          <a:xfrm>
            <a:off x="371475" y="3613666"/>
            <a:ext cx="1533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dirty="0">
                <a:solidFill>
                  <a:schemeClr val="bg1"/>
                </a:solidFill>
              </a:rPr>
              <a:t>Performanță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679BB9-55D8-E194-A6A4-EFA8414DAE60}"/>
              </a:ext>
            </a:extLst>
          </p:cNvPr>
          <p:cNvSpPr txBox="1"/>
          <p:nvPr/>
        </p:nvSpPr>
        <p:spPr>
          <a:xfrm>
            <a:off x="371475" y="4158197"/>
            <a:ext cx="4955899" cy="21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</a:rPr>
              <a:t>M2M100 </a:t>
            </a:r>
            <a:r>
              <a:rPr lang="en-US" dirty="0" err="1">
                <a:solidFill>
                  <a:schemeClr val="bg1"/>
                </a:solidFill>
              </a:rPr>
              <a:t>este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eficient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deoarece</a:t>
            </a:r>
            <a:r>
              <a:rPr lang="en-US" dirty="0">
                <a:solidFill>
                  <a:schemeClr val="bg1"/>
                </a:solidFill>
              </a:rPr>
              <a:t>: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en-US" dirty="0" err="1">
                <a:solidFill>
                  <a:schemeClr val="bg1"/>
                </a:solidFill>
              </a:rPr>
              <a:t>folosește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arhitectura</a:t>
            </a:r>
            <a:r>
              <a:rPr lang="en-US" dirty="0">
                <a:solidFill>
                  <a:schemeClr val="bg1"/>
                </a:solidFill>
              </a:rPr>
              <a:t> Transformer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en-US" dirty="0" err="1">
                <a:solidFill>
                  <a:schemeClr val="bg1"/>
                </a:solidFill>
              </a:rPr>
              <a:t>modelează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contextul</a:t>
            </a:r>
            <a:r>
              <a:rPr lang="en-US" dirty="0">
                <a:solidFill>
                  <a:schemeClr val="bg1"/>
                </a:solidFill>
              </a:rPr>
              <a:t> global al </a:t>
            </a:r>
            <a:r>
              <a:rPr lang="en-US" dirty="0" err="1">
                <a:solidFill>
                  <a:schemeClr val="bg1"/>
                </a:solidFill>
              </a:rPr>
              <a:t>propoziției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fr-FR" dirty="0">
                <a:solidFill>
                  <a:schemeClr val="bg1"/>
                </a:solidFill>
              </a:rPr>
              <a:t>este </a:t>
            </a:r>
            <a:r>
              <a:rPr lang="fr-FR" dirty="0" err="1">
                <a:solidFill>
                  <a:schemeClr val="bg1"/>
                </a:solidFill>
              </a:rPr>
              <a:t>antrenat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pe</a:t>
            </a:r>
            <a:r>
              <a:rPr lang="fr-FR" dirty="0">
                <a:solidFill>
                  <a:schemeClr val="bg1"/>
                </a:solidFill>
              </a:rPr>
              <a:t> volume </a:t>
            </a:r>
            <a:r>
              <a:rPr lang="fr-FR" dirty="0" err="1">
                <a:solidFill>
                  <a:schemeClr val="bg1"/>
                </a:solidFill>
              </a:rPr>
              <a:t>foarte</a:t>
            </a:r>
            <a:r>
              <a:rPr lang="fr-FR" dirty="0">
                <a:solidFill>
                  <a:schemeClr val="bg1"/>
                </a:solidFill>
              </a:rPr>
              <a:t> mari de date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traduce direct </a:t>
            </a:r>
            <a:r>
              <a:rPr lang="en-US" dirty="0" err="1">
                <a:solidFill>
                  <a:schemeClr val="bg1"/>
                </a:solidFill>
              </a:rPr>
              <a:t>între</a:t>
            </a:r>
            <a:r>
              <a:rPr lang="en-US" dirty="0">
                <a:solidFill>
                  <a:schemeClr val="bg1"/>
                </a:solidFill>
              </a:rPr>
              <a:t> limbi, </a:t>
            </a:r>
            <a:r>
              <a:rPr lang="en-US" dirty="0" err="1">
                <a:solidFill>
                  <a:schemeClr val="bg1"/>
                </a:solidFill>
              </a:rPr>
              <a:t>fără</a:t>
            </a:r>
            <a:r>
              <a:rPr lang="en-US" dirty="0">
                <a:solidFill>
                  <a:schemeClr val="bg1"/>
                </a:solidFill>
              </a:rPr>
              <a:t> a </a:t>
            </a:r>
            <a:r>
              <a:rPr lang="en-US" dirty="0" err="1">
                <a:solidFill>
                  <a:schemeClr val="bg1"/>
                </a:solidFill>
              </a:rPr>
              <a:t>trece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engleză</a:t>
            </a:r>
            <a:endParaRPr lang="ro-RO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02410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8692FC88-DAD7-F5AD-7831-DE5432210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12227942" cy="6857997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ro-RO" noProof="0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FD6A3FE-1BF6-4C1A-0553-EBD497A69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7" y="3001412"/>
            <a:ext cx="6327105" cy="855176"/>
          </a:xfrm>
        </p:spPr>
        <p:txBody>
          <a:bodyPr anchor="b"/>
          <a:lstStyle/>
          <a:p>
            <a:r>
              <a:rPr lang="ro-RO" sz="5400" noProof="0" dirty="0"/>
              <a:t>MULȚUMIM!</a:t>
            </a:r>
          </a:p>
        </p:txBody>
      </p:sp>
    </p:spTree>
    <p:extLst>
      <p:ext uri="{BB962C8B-B14F-4D97-AF65-F5344CB8AC3E}">
        <p14:creationId xmlns:p14="http://schemas.microsoft.com/office/powerpoint/2010/main" val="13307339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ustom 15">
      <a:majorFont>
        <a:latin typeface="Biome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36837_win32_SL_V11" id="{EAD6EF7B-6F25-4469-AF6A-07D6EB1461DD}" vid="{30FEA78B-2F89-4FF0-8415-E3920802C58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81098AD-25FA-4DAE-AD39-9BF749F1B93A}">
  <we:reference id="4b785c87-866c-4bad-85d8-5d1ae467ac9a" version="3.20.1.0" store="EXCatalog" storeType="EXCatalog"/>
  <we:alternateReferences>
    <we:reference id="WA104381909" version="3.20.1.0" store="en-US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4137456-21FC-4AE2-8A94-BF06CAF2EB9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305301E-11B3-4B9D-A588-21F3C980937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77B561B-3A65-4A22-9691-EB838E7F9B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{C9AAA407-5F66-4B73-A127-8CF18A550DF6}TFe8699e8e-689b-4d7e-abcf-e888fd749829db3118dc_win32-d573b439b56f</Template>
  <TotalTime>107</TotalTime>
  <Words>878</Words>
  <Application>Microsoft Office PowerPoint</Application>
  <PresentationFormat>Widescreen</PresentationFormat>
  <Paragraphs>110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Arial Nova</vt:lpstr>
      <vt:lpstr>Biome</vt:lpstr>
      <vt:lpstr>Calibri</vt:lpstr>
      <vt:lpstr>Corbel</vt:lpstr>
      <vt:lpstr>Wingdings</vt:lpstr>
      <vt:lpstr>Custom</vt:lpstr>
      <vt:lpstr>Aplicație traducere</vt:lpstr>
      <vt:lpstr>Tehnologii Utilizate</vt:lpstr>
      <vt:lpstr>Tehnologii Utilizate</vt:lpstr>
      <vt:lpstr>PowerPoint Presentation</vt:lpstr>
      <vt:lpstr>PowerPoint Presentation</vt:lpstr>
      <vt:lpstr>Modelul folosit</vt:lpstr>
      <vt:lpstr>Modelul folosit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MULȚUMIM!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Darius Ionut Matei</dc:creator>
  <cp:lastModifiedBy>Darius Ionut Matei</cp:lastModifiedBy>
  <cp:revision>3</cp:revision>
  <dcterms:created xsi:type="dcterms:W3CDTF">2026-01-20T17:49:35Z</dcterms:created>
  <dcterms:modified xsi:type="dcterms:W3CDTF">2026-01-21T15:41:05Z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5b58b62f-6f94-46bd-8089-18e64b0a9abb_Enabled">
    <vt:lpwstr>true</vt:lpwstr>
  </property>
  <property fmtid="{D5CDD505-2E9C-101B-9397-08002B2CF9AE}" pid="4" name="MSIP_Label_5b58b62f-6f94-46bd-8089-18e64b0a9abb_SetDate">
    <vt:lpwstr>2026-01-20T20:18:33Z</vt:lpwstr>
  </property>
  <property fmtid="{D5CDD505-2E9C-101B-9397-08002B2CF9AE}" pid="5" name="MSIP_Label_5b58b62f-6f94-46bd-8089-18e64b0a9abb_Method">
    <vt:lpwstr>Standard</vt:lpwstr>
  </property>
  <property fmtid="{D5CDD505-2E9C-101B-9397-08002B2CF9AE}" pid="6" name="MSIP_Label_5b58b62f-6f94-46bd-8089-18e64b0a9abb_Name">
    <vt:lpwstr>defa4170-0d19-0005-0004-bc88714345d2</vt:lpwstr>
  </property>
  <property fmtid="{D5CDD505-2E9C-101B-9397-08002B2CF9AE}" pid="7" name="MSIP_Label_5b58b62f-6f94-46bd-8089-18e64b0a9abb_SiteId">
    <vt:lpwstr>a6eb79fa-c4a9-4cce-818d-b85274d15305</vt:lpwstr>
  </property>
  <property fmtid="{D5CDD505-2E9C-101B-9397-08002B2CF9AE}" pid="8" name="MSIP_Label_5b58b62f-6f94-46bd-8089-18e64b0a9abb_ActionId">
    <vt:lpwstr>844bb132-a68f-445a-abda-5a579cae3f7d</vt:lpwstr>
  </property>
  <property fmtid="{D5CDD505-2E9C-101B-9397-08002B2CF9AE}" pid="9" name="MSIP_Label_5b58b62f-6f94-46bd-8089-18e64b0a9abb_ContentBits">
    <vt:lpwstr>0</vt:lpwstr>
  </property>
  <property fmtid="{D5CDD505-2E9C-101B-9397-08002B2CF9AE}" pid="10" name="MSIP_Label_5b58b62f-6f94-46bd-8089-18e64b0a9abb_Tag">
    <vt:lpwstr>10, 3, 0, 1</vt:lpwstr>
  </property>
</Properties>
</file>